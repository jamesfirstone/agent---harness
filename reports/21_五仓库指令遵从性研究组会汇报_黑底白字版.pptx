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b23d344eb4463" /><Relationship Type="http://schemas.openxmlformats.org/officeDocument/2006/relationships/extended-properties" Target="/docProps/app.xml" Id="Rce44b834e69a4eaa" /><Relationship Type="http://schemas.openxmlformats.org/officeDocument/2006/relationships/officeDocument" Target="/ppt/presentation.xml" Id="R1e10d817d01242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29942643f9444a"/>
  </p:sldMasterIdLst>
  <p:notesMasterIdLst>
    <p:notesMasterId xmlns:r="http://schemas.openxmlformats.org/officeDocument/2006/relationships" r:id="R934672ed1eec4adc"/>
  </p:notesMasterIdLst>
  <p:sldIdLst>
    <p:sldId xmlns:r="http://schemas.openxmlformats.org/officeDocument/2006/relationships" id="256" r:id="Rb9a51444121f4f34"/>
    <p:sldId xmlns:r="http://schemas.openxmlformats.org/officeDocument/2006/relationships" id="257" r:id="Rf5d7189148e94db7"/>
    <p:sldId xmlns:r="http://schemas.openxmlformats.org/officeDocument/2006/relationships" id="258" r:id="R321a5d38c7114578"/>
    <p:sldId xmlns:r="http://schemas.openxmlformats.org/officeDocument/2006/relationships" id="259" r:id="Radb1edf2c69944a9"/>
    <p:sldId xmlns:r="http://schemas.openxmlformats.org/officeDocument/2006/relationships" id="260" r:id="Rc4f061d3af5c4646"/>
    <p:sldId xmlns:r="http://schemas.openxmlformats.org/officeDocument/2006/relationships" id="261" r:id="R8b3aa614868447b6"/>
    <p:sldId xmlns:r="http://schemas.openxmlformats.org/officeDocument/2006/relationships" id="262" r:id="Re9746a80a1fa4841"/>
    <p:sldId xmlns:r="http://schemas.openxmlformats.org/officeDocument/2006/relationships" id="263" r:id="R72b56b84866f43b4"/>
    <p:sldId xmlns:r="http://schemas.openxmlformats.org/officeDocument/2006/relationships" id="264" r:id="Rc2d2382147a442c3"/>
    <p:sldId xmlns:r="http://schemas.openxmlformats.org/officeDocument/2006/relationships" id="265" r:id="Rcb200f95f1964e74"/>
    <p:sldId xmlns:r="http://schemas.openxmlformats.org/officeDocument/2006/relationships" id="266" r:id="Rd377d374a3e34a95"/>
    <p:sldId xmlns:r="http://schemas.openxmlformats.org/officeDocument/2006/relationships" id="267" r:id="Rb064a5e65f014d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927631ab74305" /><Relationship Type="http://schemas.openxmlformats.org/officeDocument/2006/relationships/slideMaster" Target="/ppt/slideMasters/slideMaster1.xml" Id="Rcc29942643f9444a" /><Relationship Type="http://schemas.openxmlformats.org/officeDocument/2006/relationships/notesMaster" Target="/ppt/notesMasters/notesMaster1.xml" Id="R934672ed1eec4adc" /><Relationship Type="http://schemas.openxmlformats.org/officeDocument/2006/relationships/presProps" Target="/ppt/presProps.xml" Id="Rc69e44c44879409c" /><Relationship Type="http://schemas.openxmlformats.org/officeDocument/2006/relationships/tableStyles" Target="/ppt/tableStyles.xml" Id="Rb5ab4730903d4265" /><Relationship Type="http://schemas.openxmlformats.org/officeDocument/2006/relationships/slide" Target="/ppt/slides/slide1.xml" Id="Rb9a51444121f4f34" /><Relationship Type="http://schemas.openxmlformats.org/officeDocument/2006/relationships/slide" Target="/ppt/slides/slide2.xml" Id="Rf5d7189148e94db7" /><Relationship Type="http://schemas.openxmlformats.org/officeDocument/2006/relationships/slide" Target="/ppt/slides/slide3.xml" Id="R321a5d38c7114578" /><Relationship Type="http://schemas.openxmlformats.org/officeDocument/2006/relationships/slide" Target="/ppt/slides/slide4.xml" Id="Radb1edf2c69944a9" /><Relationship Type="http://schemas.openxmlformats.org/officeDocument/2006/relationships/slide" Target="/ppt/slides/slide5.xml" Id="Rc4f061d3af5c4646" /><Relationship Type="http://schemas.openxmlformats.org/officeDocument/2006/relationships/slide" Target="/ppt/slides/slide6.xml" Id="R8b3aa614868447b6" /><Relationship Type="http://schemas.openxmlformats.org/officeDocument/2006/relationships/slide" Target="/ppt/slides/slide7.xml" Id="Re9746a80a1fa4841" /><Relationship Type="http://schemas.openxmlformats.org/officeDocument/2006/relationships/slide" Target="/ppt/slides/slide8.xml" Id="R72b56b84866f43b4" /><Relationship Type="http://schemas.openxmlformats.org/officeDocument/2006/relationships/slide" Target="/ppt/slides/slide9.xml" Id="Rc2d2382147a442c3" /><Relationship Type="http://schemas.openxmlformats.org/officeDocument/2006/relationships/slide" Target="/ppt/slides/slide10.xml" Id="Rcb200f95f1964e74" /><Relationship Type="http://schemas.openxmlformats.org/officeDocument/2006/relationships/slide" Target="/ppt/slides/slide11.xml" Id="Rd377d374a3e34a95" /><Relationship Type="http://schemas.openxmlformats.org/officeDocument/2006/relationships/slide" Target="/ppt/slides/slide12.xml" Id="Rb064a5e65f01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157892e408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54a6df08e4fb0" /><Relationship Type="http://schemas.openxmlformats.org/officeDocument/2006/relationships/notesMaster" Target="/ppt/notesMasters/notesMaster1.xml" Id="R9079f91e50b242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0dfdce4fe34c8a" /><Relationship Type="http://schemas.openxmlformats.org/officeDocument/2006/relationships/notesMaster" Target="/ppt/notesMasters/notesMaster1.xml" Id="R6923d6519637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df394404b4b52" /><Relationship Type="http://schemas.openxmlformats.org/officeDocument/2006/relationships/notesMaster" Target="/ppt/notesMasters/notesMaster1.xml" Id="Re64be5c3924f44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5ee852cf874eaa" /><Relationship Type="http://schemas.openxmlformats.org/officeDocument/2006/relationships/notesMaster" Target="/ppt/notesMasters/notesMaster1.xml" Id="R24c76b9629f242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a7a190b73430e" /><Relationship Type="http://schemas.openxmlformats.org/officeDocument/2006/relationships/notesMaster" Target="/ppt/notesMasters/notesMaster1.xml" Id="R56115206ddd646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db4bb5e884211" /><Relationship Type="http://schemas.openxmlformats.org/officeDocument/2006/relationships/notesMaster" Target="/ppt/notesMasters/notesMaster1.xml" Id="Rcf026faf5399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ea5e7e2f74ec2" /><Relationship Type="http://schemas.openxmlformats.org/officeDocument/2006/relationships/notesMaster" Target="/ppt/notesMasters/notesMaster1.xml" Id="R8e191f15f6ac4e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fa8dcee9e84aec" /><Relationship Type="http://schemas.openxmlformats.org/officeDocument/2006/relationships/notesMaster" Target="/ppt/notesMasters/notesMaster1.xml" Id="R8698ec89b7084c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1d2ff4582d4487" /><Relationship Type="http://schemas.openxmlformats.org/officeDocument/2006/relationships/notesMaster" Target="/ppt/notesMasters/notesMaster1.xml" Id="Re0e511a8cdbb42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341dad74634ea4" /><Relationship Type="http://schemas.openxmlformats.org/officeDocument/2006/relationships/notesMaster" Target="/ppt/notesMasters/notesMaster1.xml" Id="R1f0d7da8dfbb49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bc11bea9b4482a" /><Relationship Type="http://schemas.openxmlformats.org/officeDocument/2006/relationships/notesMaster" Target="/ppt/notesMasters/notesMaster1.xml" Id="R1b084808b33041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e072a6620e45af" /><Relationship Type="http://schemas.openxmlformats.org/officeDocument/2006/relationships/notesMaster" Target="/ppt/notesMasters/notesMaster1.xml" Id="R7818d579ec28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开场先把问题说清楚：我们研究的不是哪个 Agent 框架更强，也不是复述它们的功能列表，而是追问代码层面究竟有哪些机制试图让 Agent 按指令行动。这次覆盖五个仓库、35 个机制，并把关键判断落实到 82 个带路径和行号的代码片段。汇报会集中讲共同结构、局部强制和边界，不展开逐行源码。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D:\FDU\科研环节\harness\reports\17_五仓库指令遵从性静态分析计划.md（研究对象与目标）</a:t>
            </a:r>
          </a:p>
          <a:p xmlns:a="http://schemas.openxmlformats.org/drawingml/2006/main">
            <a:r>
              <a:t>- D:\FDU\科研环节\harness\reports\20_五仓库指令遵从性逐机制代码片段证据.md（覆盖总表与核验结论）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这一页定义研究单位。我们没有使用用户给出的热度数字做质量排序，因为 star 数与指令遵从没有可证明关系。分析对象是固定提交中的控制机制：它在何处进入调用链、做什么裁决、默认是否启用、失败时放行还是拒绝、以及有没有绕过入口。这里的“支配执行”是关键——如果一个 guard 只改变模型看见的工具列表，但真实执行器仍接受直接调用，它只能算候选空间约束，不能算完整授权。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2–4 节）</a:t>
            </a:r>
          </a:p>
          <a:p xmlns:a="http://schemas.openxmlformats.org/drawingml/2006/main">
            <a:r>
              <a:t>- D:\FDU\科研环节\harness\reports\18_五仓库指令遵从性静态分析实验记录.md（第 1 节、第 8 节）</a:t>
            </a:r>
          </a:p>
          <a:p xmlns:a="http://schemas.openxmlformats.org/drawingml/2006/main">
            <a:r>
              <a:t>- D:\FDU\科研环节\harness\reports\19_五仓库指令遵从性形式化分类与代码证据.md（第 7.3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方法上先固定每个仓库的 HEAD，再用 Instruction、ToolApproval、Validation、Execution、RecoveryAudit 五组查询做候选召回。关键词只能提高召回率，不能直接形成结论。真正的纳入标准是双向追踪：从候选代码向前找到调用者和决定性分支，再从文件、终端、浏览器、网络等副作用入口向后检查是否必经该控制。最后统一记录默认值、异常语义、旁路和测试断言。E2 只表示仓库作者写了到达该机制的断言，本轮没有把未执行测试描述成“通过”。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5–7 节）</a:t>
            </a:r>
          </a:p>
          <a:p xmlns:a="http://schemas.openxmlformats.org/drawingml/2006/main">
            <a:r>
              <a:t>- D:\FDU\科研环节\harness\reports\18_五仓库指令遵从性静态分析实验记录.md（第 3–6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五个项目都不是靠一个统一的“指令遵从模块”工作，而是把控制分散在多层。System prompt、rules、skills 主要改变模型的生成倾向；schema、registry 和 tool preset 缩小候选空间；审批回调、导航域检查、文件 containment 才可能在限定入口形成执行前阻断；termination、judge、reporter 与 lint rollback 通常只影响后续步骤或恢复。汇报后续的比较都会沿用这四层，避免把提示、验证、授权和审计混成同一种保证。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7–8 节）</a:t>
            </a:r>
          </a:p>
          <a:p xmlns:a="http://schemas.openxmlformats.org/drawingml/2006/main">
            <a:r>
              <a:t>- D:\FDU\科研环节\harness\reports\20_五仓库指令遵从性逐机制代码片段证据.md（第 9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生命周期编码从 L0 配置开始，一直到 L8 完成与审计。五个仓库在 L1 指令上下文、L3 生成和 L4 动作解析上普遍都有机制；真正拉开保证强度的是 L5 授权和 L6 执行隔离。这里要强调时序：执行前检查可以阻止副作用，但往往缺少真实状态；执行后的 judge、lint、timeout 能看到更多结果，却只能告警、停止后续动作或尽力回滚。研究上不能因为一个机制位于 L7/L8，就把它表述为执行前遵从保证。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3.1 节）</a:t>
            </a:r>
          </a:p>
          <a:p xmlns:a="http://schemas.openxmlformats.org/drawingml/2006/main">
            <a:r>
              <a:t>- D:\FDU\科研环节\harness\reports\19_五仓库指令遵从性形式化分类与代码证据.md（第 7.1 节、第 8 节 RQ2）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六类机制按作用方式而不是项目名称划分。前三类帮助模型理解规则并生成可解析动作；第四、第五类才有机会形成执行级保证；第六类用于停止、恢复和审计。星号表示这里的 ENFORCE 不是对整个 Agent 的评级，只是在限定 sink、限定配置下成立。例如 browser-use 的导航 watchdog 可以阻止不允许的 URL，但不能自动支配自定义 Python action；AutoGen 的 approval callback 只覆盖 CodeExecutorAgent 的特定路径。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8 节 RQ1）</a:t>
            </a:r>
          </a:p>
          <a:p xmlns:a="http://schemas.openxmlformats.org/drawingml/2006/main">
            <a:r>
              <a:t>- D:\FDU\科研环节\harness\reports\19_五仓库指令遵从性形式化分类与代码证据.md（第 7.3 节）</a:t>
            </a:r>
          </a:p>
          <a:p xmlns:a="http://schemas.openxmlformats.org/drawingml/2006/main">
            <a:r>
              <a:t>- D:\FDU\科研环节\harness\reports\20_五仓库指令遵从性逐机制代码片段证据.md（第 2 节覆盖总表）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这一页不是评分榜，而是把每个项目最强的静态证据和最重要的边界放在一起。AutoGen 强在可组合原语，Cline 的 local AgentTool 路径有最清楚的 policy→approval→execute 链，MetaGPT 强在流程与结构化评审，OpenHands 当前仓库主要证明 Canvas 协议，browser-use 则在自己拥有的浏览器与文件 sink 上做了较多确定性检查。共同限制是：最强性质都附带路径、配置或仓库边界，不能直接外推为全局自然语言遵从。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7.2 节）</a:t>
            </a:r>
          </a:p>
          <a:p xmlns:a="http://schemas.openxmlformats.org/drawingml/2006/main">
            <a:r>
              <a:t>- D:\FDU\科研环节\harness\reports\20_五仓库指令遵从性逐机制代码片段证据.md（第 3–7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这里给出三条最接近完整调解的局部链路。AutoGen 在 approval callback 已配置时，拒绝分支位于 execute_code_blocks 之前；Cline 对本地已注册工具，在 policy 要求审批时，无回调、拒绝或回调异常都不会进入 execute；browser-use 在自身导航、上传下载和 managed 文件入口上有确定性检查。它们之所以仍称为局部，是因为直接 executor、provider、自定义 action、远端路径等入口不一定经过同一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D:\FDU\科研环节\harness\reports\19_五仓库指令遵从性形式化分类与代码证据.md（AG-4、CL-2、BU-3/BU-5 与第 7.3 节）</a:t>
            </a:r>
          </a:p>
          <a:p xmlns:a="http://schemas.openxmlformats.org/drawingml/2006/main">
            <a:r>
              <a:t>- D:\FDU\科研环节\harness\reports\20_五仓库指令遵从性逐机制代码片段证据.md（对应逐机制代码片段）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静态审计最有价值的部分往往不是找到 guard，而是找到它在什么条件下消失。OpenHands 的 confirmation 默认关闭；Cline 未列入 policy 的工具默认可用并自动批准；AutoGen 的审批回调在配置序列化后被恢复为 None；MetaGPT 有评估结果却不一定阻止保存；browser-use 的 judge 只做后置测量；OpenHands 子会话在 worktree 创建失败时会透明降级到 shared。它们分别对应默认、规则缺失、持久化、支配关系、时序和恢复语义六类风险。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D:\FDU\科研环节\harness\reports\19_五仓库指令遵从性形式化分类与代码证据.md（各仓机制小结与第 8 节 RQ3）</a:t>
            </a:r>
          </a:p>
          <a:p xmlns:a="http://schemas.openxmlformats.org/drawingml/2006/main">
            <a:r>
              <a:t>- D:\FDU\科研环节\harness\reports\20_五仓库指令遵从性逐机制代码片段证据.md（第 8.3 节修正清单）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号报告对 35 个机制逐一补齐代码片段，共形成 82 个代码块，并把实现、裁决或 sink、默认或旁路、测试断言或缺口放在同一处复核。复核后对 19 号报告做了 11 处实质修正，例如 Docker 网络只能说“未显式关闭”，不能说所有部署默认联网；Cline heredoc body 的屏蔽不等于文件重定向全部绕过；provider 分支只能证明本地不执行，不能证明外部动作成功。证据更详细的同时，结论反而更克制。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D:\FDU\科研环节\harness\reports\20_五仓库指令遵从性逐机制代码片段证据.md（第 8–9 节）</a:t>
            </a:r>
          </a:p>
          <a:p xmlns:a="http://schemas.openxmlformats.org/drawingml/2006/main">
            <a:r>
              <a:t>- D:\FDU\科研环节\harness\reports\19_五仓库指令遵从性形式化分类与代码证据.md（已同步修正的机制条目）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这给我们的 Harness 设计一个明确的评价框架。第一，Coverage 要问目标 sink 是否都被覆盖，而不是工具是否出现在 schema 中；第二，Mandatory 要检查直接 API、外部 provider、插件、序列化恢复等旁路；第三，FailClosed 要检查配置缺失、解析异常、网络失败和恢复失败时是否拒绝。只有三者同时满足，才能把局部机制描述为强保证。后续测试不应只验证 happy path，而应主动删除 gate、切换 provider、破坏配置并触发失败分支。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7.3 节、第 8 节 RQ3）</a:t>
            </a:r>
          </a:p>
          <a:p xmlns:a="http://schemas.openxmlformats.org/drawingml/2006/main">
            <a:r>
              <a:t>- D:\FDU\科研环节\harness\reports\17_五仓库指令遵从性静态分析计划.md（阶段 E 与验收标准）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下一阶段应把静态发现转成可执行反例。第一组实验系统切换默认值、审批回调、provider、序列化和隔离降级，验证机制是否按源码预期失效；第二组让同一用户意图通过不同 sink 执行，检查控制是否跨入口一致；第三组针对仓库边界做集成审计，尤其是 OpenHands 的 SDK/server 与 Cline 外部 provider。组会讨论可以围绕优先顺序展开：先验证最可能产生高危旁路的 L5/L6，还是先建立覆盖全部五仓的统一最小基准。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6–8 节）</a:t>
            </a:r>
          </a:p>
          <a:p xmlns:a="http://schemas.openxmlformats.org/drawingml/2006/main">
            <a:r>
              <a:t>- D:\FDU\科研环节\harness\reports\18_五仓库指令遵从性静态分析实验记录.md（第 7–8 节）</a:t>
            </a:r>
          </a:p>
          <a:p xmlns:a="http://schemas.openxmlformats.org/drawingml/2006/main">
            <a:r>
              <a:t>- D:\FDU\科研环节\harness\reports\20_五仓库指令遵从性逐机制代码片段证据.md（第 8 节证据缺口）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5c9e27b77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e102dfc034ee1" /><Relationship Type="http://schemas.openxmlformats.org/officeDocument/2006/relationships/slideLayout" Target="/ppt/slideLayouts/slideLayout1.xml" Id="Rb018d489356a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18d489356a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9ebfb870a4c62" /><Relationship Type="http://schemas.openxmlformats.org/officeDocument/2006/relationships/notesSlide" Target="/ppt/notesSlides/notesSlide1.xml" Id="R4e973d707056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633f656814c35" /><Relationship Type="http://schemas.openxmlformats.org/officeDocument/2006/relationships/notesSlide" Target="/ppt/notesSlides/notesSlide2.xml" Id="Rf369bb4002ad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fa183201e46a2" /><Relationship Type="http://schemas.openxmlformats.org/officeDocument/2006/relationships/notesSlide" Target="/ppt/notesSlides/notesSlide3.xml" Id="R5dc024cfb2324b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53f7461e8451f" /><Relationship Type="http://schemas.openxmlformats.org/officeDocument/2006/relationships/notesSlide" Target="/ppt/notesSlides/notesSlide4.xml" Id="Rceedd3e01a66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2750c5be84d75" /><Relationship Type="http://schemas.openxmlformats.org/officeDocument/2006/relationships/notesSlide" Target="/ppt/notesSlides/notesSlide5.xml" Id="R11176bed79f34b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207fdf94a4ec1" /><Relationship Type="http://schemas.openxmlformats.org/officeDocument/2006/relationships/notesSlide" Target="/ppt/notesSlides/notesSlide6.xml" Id="R956b0ca32fb2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1dc2996c84367" /><Relationship Type="http://schemas.openxmlformats.org/officeDocument/2006/relationships/notesSlide" Target="/ppt/notesSlides/notesSlide7.xml" Id="R60de723eefa345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11e348d4e4e41" /><Relationship Type="http://schemas.openxmlformats.org/officeDocument/2006/relationships/notesSlide" Target="/ppt/notesSlides/notesSlide8.xml" Id="R4d2844ae87c64b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2061b3167439e" /><Relationship Type="http://schemas.openxmlformats.org/officeDocument/2006/relationships/notesSlide" Target="/ppt/notesSlides/notesSlide9.xml" Id="R8d0a8a996c8b45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bb784c4c2402f" /><Relationship Type="http://schemas.openxmlformats.org/officeDocument/2006/relationships/notesSlide" Target="/ppt/notesSlides/notesSlide10.xml" Id="Rc0808b303a9345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250f1270d4287" /><Relationship Type="http://schemas.openxmlformats.org/officeDocument/2006/relationships/notesSlide" Target="/ppt/notesSlides/notesSlide11.xml" Id="Rb7729a554cfd40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d2989268e4091" /><Relationship Type="http://schemas.openxmlformats.org/officeDocument/2006/relationships/notesSlide" Target="/ppt/notesSlides/notesSlide12.xml" Id="R05e66d973dc542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2BEEE-EB17-46D3-8F4C-4A8FCEC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BFA5C-8884-4892-9985-4D92EC92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7F2"/>
                </a:solidFill>
              </a:defRPr>
            </a:pPr>
            <a:r>
              <a:rPr sz="4200" b="1">
                <a:solidFill>
                  <a:srgbClr val="F7F7F2"/>
                </a:solidFill>
              </a:rPr>
              <a:t>Agent 如何“遵从指令”？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3675C-3B24-4907-AE7A-B9F2A51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D6CF"/>
                </a:solidFill>
              </a:defRPr>
            </a:pPr>
            <a:r>
              <a:rPr sz="2100" b="0">
                <a:solidFill>
                  <a:srgbClr val="D6D6CF"/>
                </a:solidFill>
              </a:rPr>
              <a:t>五个开源仓库的静态代码审计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8263F-8988-4D5D-B8E5-325C68D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A3A3"/>
                </a:solidFill>
              </a:defRPr>
            </a:pPr>
            <a:r>
              <a:rPr sz="1500" b="0">
                <a:solidFill>
                  <a:srgbClr val="A3A3A3"/>
                </a:solidFill>
              </a:rPr>
              <a:t>AutoGen · Cline · MetaGPT · OpenHands · browser-use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62C7-07DB-41CA-BA2F-F482686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组会汇报｜2026.09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6087-8C29-44DE-B72C-88AB483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340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F7F7F2"/>
                </a:solidFill>
              </a:defRPr>
            </a:pPr>
            <a:r>
              <a:rPr sz="2550" b="1">
                <a:solidFill>
                  <a:srgbClr val="F7F7F2"/>
                </a:solidFill>
              </a:rPr>
              <a:t>5 / 35 / 82</a:t>
            </a:r>
          </a:p>
        </p:txBody>
      </p:sp>
    </p:spTree>
    <p:extLst>
      <p:ext uri="{BB962C8B-B14F-4D97-AF65-F5344CB8AC3E}">
        <p14:creationId xmlns:p14="http://schemas.microsoft.com/office/powerpoint/2010/main" val="107082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AF036-D382-4017-9CCF-418C312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46FB3-7152-4ED8-8BB7-5BAD6B0F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D7964-26F6-4887-AA05-4CAF3B17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57835-B4CF-417D-BCC1-D691240C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我们不做项目排名，而是检查控制是否真的支配执行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23AD7-CDAC-45FC-AE24-0B905A7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A3A3"/>
                </a:solidFill>
              </a:defRPr>
            </a:pPr>
            <a:r>
              <a:rPr sz="1500" b="1">
                <a:solidFill>
                  <a:srgbClr val="A3A3A3"/>
                </a:solidFill>
              </a:rPr>
              <a:t>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860A9-915E-48AA-AA36-E63D2E7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52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2"/>
                </a:solidFill>
              </a:defRPr>
            </a:pPr>
            <a:r>
              <a:rPr sz="2550" b="1">
                <a:solidFill>
                  <a:srgbClr val="F7F7F2"/>
                </a:solidFill>
              </a:rPr>
              <a:t>当 Agent 即将产生副作用时，</a:t>
            </a:r>
          </a:p>
          <a:p xmlns:a="http://schemas.openxmlformats.org/drawingml/2006/main">
            <a:pPr algn="l">
              <a:defRPr sz="2550" b="1">
                <a:solidFill>
                  <a:srgbClr val="F7F7F2"/>
                </a:solidFill>
              </a:defRPr>
            </a:pPr>
            <a:r>
              <a:rPr sz="2550" b="1">
                <a:solidFill>
                  <a:srgbClr val="F7F7F2"/>
                </a:solidFill>
              </a:rPr>
              <a:t>谁在什么阶段做决定？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41D16-69EF-491D-9888-8849E5EF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C96F3-D612-4C12-87E6-AFC8A02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控制是否覆盖真实 sink，而不只影响提示词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CD32D-69EC-4C48-8F7F-2EA7205A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7941F-F216-429E-BC0D-4D068D4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默认、异常与旁路是否会让约束失效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45232-3E8A-435B-91C0-AEB31002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95A10-99F5-4A89-8853-901956D4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仓库内测试究竟证明了哪一层性质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F216-CE5A-4190-9503-8E2633F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FFDAB-1A1C-43BD-ABD1-7739C10E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7F2"/>
                </a:solidFill>
              </a:defRPr>
            </a:pPr>
            <a:r>
              <a:rPr sz="5400" b="1">
                <a:solidFill>
                  <a:srgbClr val="F7F7F2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C7292-0DAE-4C8D-B67B-E54FDB99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6CF"/>
                </a:solidFill>
              </a:defRPr>
            </a:pPr>
            <a:r>
              <a:rPr sz="1650" b="0">
                <a:solidFill>
                  <a:srgbClr val="D6D6CF"/>
                </a:solidFill>
              </a:rPr>
              <a:t>个固定仓库快照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B577-9ED6-43A6-A5ED-EBAFCC9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7F2"/>
                </a:solidFill>
              </a:defRPr>
            </a:pPr>
            <a:r>
              <a:rPr sz="5400" b="1">
                <a:solidFill>
                  <a:srgbClr val="F7F7F2"/>
                </a:solidFill>
              </a:rPr>
              <a:t>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041E3-F497-430D-BAE4-083E1CBD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6CF"/>
                </a:solidFill>
              </a:defRPr>
            </a:pPr>
            <a:r>
              <a:rPr sz="1650" b="0">
                <a:solidFill>
                  <a:srgbClr val="D6D6CF"/>
                </a:solidFill>
              </a:rPr>
              <a:t>个纳入机制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C1767-57E9-4FC5-A584-9CB5114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7F2"/>
                </a:solidFill>
              </a:defRPr>
            </a:pPr>
            <a:r>
              <a:rPr sz="3600" b="1">
                <a:solidFill>
                  <a:srgbClr val="F7F7F2"/>
                </a:solidFill>
              </a:rPr>
              <a:t>L0–L8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D7CAB-0289-4DC5-86F8-437102D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19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6CF"/>
                </a:solidFill>
              </a:defRPr>
            </a:pPr>
            <a:r>
              <a:rPr sz="1650" b="0">
                <a:solidFill>
                  <a:srgbClr val="D6D6CF"/>
                </a:solidFill>
              </a:rPr>
              <a:t>覆盖完整 Agent 生命周期</a:t>
            </a:r>
          </a:p>
        </p:txBody>
      </p:sp>
    </p:spTree>
    <p:extLst>
      <p:ext uri="{BB962C8B-B14F-4D97-AF65-F5344CB8AC3E}">
        <p14:creationId xmlns:p14="http://schemas.microsoft.com/office/powerpoint/2010/main" val="589229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344D8-21FF-41FA-BA74-98EDF9E6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研究方法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82CCE-1BAC-452B-8A24-A2BD5DD0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CFBC3-DAE2-4F09-8DF4-02506668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762F7-25D5-4431-ABAE-5D98688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从关键词到副作用入口：只有闭合证据链才纳入结论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59A5E-6E0D-445D-9CFE-854C4E57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145CA-04B6-4722-BB42-26B4DAA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59AFD-A19E-4E3C-80EE-2726562E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5C5DE-5E3B-475A-B1C6-0CC6625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固定版本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8A9D-E4E9-4BD0-9C80-C16FCD3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A3A3A3"/>
                </a:solidFill>
              </a:rPr>
              <a:t>记录 commit 与范围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9FEA1-A13D-4A4F-9DFA-736CA716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8DDBE-073F-4655-973A-AF1D03D0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C48DD-3E69-4931-BD58-165C96E9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候选召回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CCBEE-D932-49CE-B785-18F5838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A3A3A3"/>
                </a:solidFill>
              </a:rPr>
              <a:t>五类统一查询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CD011-1796-4730-B9D9-95F8802F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21438-88FD-4BDF-A2D3-38CD987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A38DA-AC28-4BB9-9BBB-63A647D1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前向追踪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566E9-F6FA-430B-9E98-E40C321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A3A3A3"/>
                </a:solidFill>
              </a:rPr>
              <a:t>入口→分支→调用者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C260B-250B-4F3B-8CBD-B21C744B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BF0D8-FFC3-46D1-BDA1-15031739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76DFF-57B4-4F5E-9A27-818710B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反向核验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85812-2407-416B-A0C6-E633ACBE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A3A3A3"/>
                </a:solidFill>
              </a:rPr>
              <a:t>sink→是否必经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29977-9CA8-4399-92D4-CC949123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B22BB-AC1F-46AF-8BD4-DCB4264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ABDE2-DEDA-4622-BE87-AD455547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边界编码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64956-6799-4150-BEE7-D570BFC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A3A3A3"/>
                </a:solidFill>
              </a:rPr>
              <a:t>默认·异常·旁路·测试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2124C-54BC-4AD5-A576-70BB527C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B3290-799F-49A4-AD23-6CC7A4A7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E2 = 固定提交中存在真实测试断言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E2EC2-E12F-4949-A851-38F34239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3A3A3"/>
                </a:solidFill>
              </a:defRPr>
            </a:pPr>
            <a:r>
              <a:rPr sz="1650" b="0">
                <a:solidFill>
                  <a:srgbClr val="A3A3A3"/>
                </a:solidFill>
              </a:rPr>
              <a:t>不等于本轮测试已运行通过</a:t>
            </a:r>
          </a:p>
        </p:txBody>
      </p:sp>
    </p:spTree>
    <p:extLst>
      <p:ext uri="{BB962C8B-B14F-4D97-AF65-F5344CB8AC3E}">
        <p14:creationId xmlns:p14="http://schemas.microsoft.com/office/powerpoint/2010/main" val="1765648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E62AB-93F6-439F-BF24-3518E997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核心发现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61286-E7B4-4438-BA57-A658754D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7BE10-1E02-43D4-BCB8-F855C2A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7ACB0-93E1-4377-B9FA-0CF7BDB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核心结论：指令遵从不是一个模块，而是一条控制链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1C71F-D959-4ADA-B687-8CD7BCF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AE060-8DC5-4A22-976F-FB646240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F7F7F2"/>
                </a:solidFill>
              </a:rPr>
              <a:t>提示诱导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E9E16-44F1-42A5-BA13-986BB0FC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2C7BF-9307-4706-B0CA-30A54E1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让模型看见规则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C2871-17F2-4CAA-97CD-E3A4A65D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改变生成概率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9DCB-EC35-44F4-82EA-B9783D6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511AB-2234-4F6B-97EE-2308B4D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F7F7F2"/>
                </a:solidFill>
              </a:rPr>
              <a:t>候选约束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AE09A-CCAE-4CE0-91CB-C905438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34C5B-860E-4BBA-A381-E6748146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限定工具与格式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167E4-6904-4AC6-A5F9-5C10F86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减少可达动作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23D56-BAEB-4BBD-8AC0-7E6567A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5BF13-3A4A-47B6-92E9-CC92BAD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F7F7F2"/>
                </a:solidFill>
              </a:rPr>
              <a:t>局部执行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3836C-3D46-4314-9CF7-134385BE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0FDC3-B0AA-4817-946F-A20E8A9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在特定 sink 前裁决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2E1F2-65AE-497B-8EF0-833C9D12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可能真正阻断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ADC36-C17C-454E-865B-19A41B0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7FA62-7CE9-4839-9BFF-1DE27E0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F7F7F2"/>
                </a:solidFill>
              </a:rPr>
              <a:t>后置恢复/观测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CACD4-32A7-420B-A244-4111ADE9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F89EC-592B-4AE8-B10B-0E28685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停止、回滚、审计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C9BD3-4277-4AC7-8872-E6CCA7BD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影响后续轨迹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D1C95-B00B-419D-8B90-2D8A999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C5B82-1517-45B1-8E7F-968E01DF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能约束输出形状，不代表能证明动作符合用户意图</a:t>
            </a:r>
          </a:p>
        </p:txBody>
      </p:sp>
    </p:spTree>
    <p:extLst>
      <p:ext uri="{BB962C8B-B14F-4D97-AF65-F5344CB8AC3E}">
        <p14:creationId xmlns:p14="http://schemas.microsoft.com/office/powerpoint/2010/main" val="1268252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86066-F18F-41DB-93BE-5FCC95B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83B72-1D48-4F50-B04B-D701164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B853-E719-42C0-AB6B-73125396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025C2-DFD4-4ACB-9C00-66C3558A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控制分散在 L0–L8，真正差异集中在授权与隔离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E1AFD-9171-4A84-8D9E-4630394D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BF941-2AA2-4484-9D7E-936852D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3BB18-04C8-4278-B3B2-E3680DC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20A0-17C4-4C1B-96A3-6CA7C56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C58C1-A5ED-4149-B308-8995CDE9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FA318-19B3-419F-912E-080CB8B3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665B9-5BEB-4792-B372-BB32B47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DCC76-4D47-40D5-A93A-361F647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68834-85BC-4C95-B368-B1ACBC1F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2B075-1826-43FD-A234-476225C3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667D9-102E-47ED-90C4-A974E9DE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5253B-C596-44BC-B19B-EEEAF73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44B69-2341-4113-856B-DA70894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DFA98-F387-4818-BE50-703CAB6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FD4F4-B63C-47DC-ABF3-96ED734F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2A932-DE62-4E88-AA54-DF2CD9ED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解析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FAA90-84B8-44AA-9B95-4F03363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3ECAA-5942-46B2-9CCD-B71D26C3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L5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3D9EC-C92A-43B2-91E0-9037DFCB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2"/>
                </a:solidFill>
              </a:defRPr>
            </a:pPr>
            <a:r>
              <a:rPr sz="1500" b="1">
                <a:solidFill>
                  <a:srgbClr val="F7F7F2"/>
                </a:solidFill>
              </a:rPr>
              <a:t>授权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B134A-732E-445F-9A2B-EF32AB1D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3A304-2A7A-4154-9AE6-CA4F693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L6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7835B-7072-488C-A8C6-F474EC4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2"/>
                </a:solidFill>
              </a:defRPr>
            </a:pPr>
            <a:r>
              <a:rPr sz="1500" b="1">
                <a:solidFill>
                  <a:srgbClr val="F7F7F2"/>
                </a:solidFill>
              </a:rPr>
              <a:t>隔离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81012-D007-4521-A279-BFA6061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FE940-4FE3-4299-96BA-712A98BC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9F2C1-D306-4254-809D-26CD2B0D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C698A-1A84-4E0B-ADAC-983F6478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D6D6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8D62B4-393E-4D9F-8DAE-CE2EBA05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L8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772F4-3EB4-45E0-BC61-D609204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审计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247B8-6385-469D-A7D8-39470FF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生成前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6DCD6-8190-491C-A046-69A21843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副作用临界点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03783-776A-427A-83C6-16028786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执行后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093EE-410F-4BE8-8968-4CC8EFF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60734-F667-4BD0-858E-6BFC0E9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F7F7F2"/>
                </a:solidFill>
              </a:rPr>
              <a:t>越靠后，越接近真实执行状态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BF6A6-BBF6-4F62-AF71-60CD392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A3A3A3"/>
                </a:solidFill>
              </a:defRPr>
            </a:pPr>
            <a:r>
              <a:rPr sz="1875" b="0">
                <a:solidFill>
                  <a:srgbClr val="A3A3A3"/>
                </a:solidFill>
              </a:rPr>
              <a:t>但越难撤销已经发生的副作用</a:t>
            </a:r>
          </a:p>
        </p:txBody>
      </p:sp>
    </p:spTree>
    <p:extLst>
      <p:ext uri="{BB962C8B-B14F-4D97-AF65-F5344CB8AC3E}">
        <p14:creationId xmlns:p14="http://schemas.microsoft.com/office/powerpoint/2010/main" val="354824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B855F-7074-4A16-90DD-5DEB9D8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机制分类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ED822-2EF7-4E0E-BF36-E8605D39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7CD50-8225-49C6-A7B4-D1DC3F25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16333-23E7-4468-B935-7C6D9A9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35 个机制归为六类，但只有少数能在限定入口形成强制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42F9-71D3-436A-9114-3DFB563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586EC-E008-41AC-8437-8C3521B4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规范注入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758B5-AE2E-4976-8E67-E2343E30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954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system prompt · rules · skills · SOP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18B74-BDAA-49AF-983C-F32E4DC0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95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INDUCE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B3DDE-4EBC-4D2F-B742-68BF3F1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3A04F-D323-4423-9CA2-0C9F973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4B861-933C-493C-AF65-14B94B7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上下文与路由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02DFF-6853-4AAD-9C26-5D194DDA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message filter · speaker · sub-agent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04195-A848-41EF-8CDE-455D9924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622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CONSTRAIN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ED6A-1CB5-4DAD-A6C9-E507314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C8DDE-6C97-433E-8334-7CB3E75C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2FA05-E388-4E70-A784-B77A2729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0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动作空间治理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45BDE-F48B-454C-A6F5-E531738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allow-list · schema ·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C1119-48CA-4438-89A2-ACC93892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28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CONSTRAIN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77299-9EF1-47F4-99FF-7339ED6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10A9B-B773-4E56-A316-A157B1C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D7AA8-DF8E-492B-8AC9-A2BF4E6C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执行前裁决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31948-4D13-4A0E-8295-296E0E0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approval · confirmation · navigation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D2951-EA37-4845-9C04-5D0C644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95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7F2"/>
                </a:solidFill>
              </a:defRPr>
            </a:pPr>
            <a:r>
              <a:rPr sz="1275" b="1">
                <a:solidFill>
                  <a:srgbClr val="F7F7F2"/>
                </a:solidFill>
              </a:rPr>
              <a:t>ENFORCE*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3AFAC-4D6B-4DA9-BA30-4F5DE00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398B8-3F2A-49AF-A6A1-11BCEB7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21614-FA14-4139-AF9E-E0E3FB8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33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资源与副作用边界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CE3DD-3D37-4E0A-A9C2-D79D6B0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sandbox · path · secret · containment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F6F14-BA2C-4EE8-9711-9DD242B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62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7F7F2"/>
                </a:solidFill>
              </a:defRPr>
            </a:pPr>
            <a:r>
              <a:rPr sz="1275" b="1">
                <a:solidFill>
                  <a:srgbClr val="F7F7F2"/>
                </a:solidFill>
              </a:rPr>
              <a:t>ENFORCE*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9084B-C6B5-49C4-A914-5F76286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10F4F-E1F5-49FA-9261-C7C2CAB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B410C-BA2A-4F6A-B2A2-1C8913DF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00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完成、恢复与观测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497E7E-28B0-4E8E-935C-1C6EDC1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termination · judge · reporter · rollback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AF8B1A-D271-4AE3-AF25-9C13F74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292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AUDIT/RECOVER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AB0A0-278F-4547-B220-91D4BC80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A3A3A3"/>
                </a:solidFill>
              </a:rPr>
              <a:t>* 只有在覆盖特定 sink、不可绕过且失败默认拒绝时成立</a:t>
            </a:r>
          </a:p>
        </p:txBody>
      </p:sp>
    </p:spTree>
    <p:extLst>
      <p:ext uri="{BB962C8B-B14F-4D97-AF65-F5344CB8AC3E}">
        <p14:creationId xmlns:p14="http://schemas.microsoft.com/office/powerpoint/2010/main" val="2091409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9E371F-103E-4BFE-9067-090304E7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跨仓比较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6A52D-8E1D-44F6-AEF1-23AE710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278AF-247D-41A0-9A42-F4372A65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2762C-174D-43B9-A2F8-111C5B61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五个仓库各有强项，最强可证明性质仍然是局部的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D0B62-7B71-431B-AEEB-5F799347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仓库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9A836-EAD0-4315-B7A8-D2961F0C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直接关注点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1F85A-D621-44B2-8894-8404BBF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33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最强局部性质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C6505-6DD1-4090-AEB2-F342CCB3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335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主要边界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FB02F-F77A-40E1-B087-881CC997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74B8A-DB80-4E91-A4F1-9A4CCECA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AutoGen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F8E18-E6C1-4F0C-93F1-73CF7029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可组合 runtime 原语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CF122-E9DB-43BA-AF3A-2E64308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配置回调时可阻止代码执行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06923-4E56-4194-A242-8481E018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默认无审批；可直调 executor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DD786-0764-4873-A185-56556B5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A0AC3-D46D-4F42-8707-4B63AEB7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Cline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F6B1-A71C-40D3-AF31-94E7FA58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本地工具 policy 与审批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8F5A3-5A8F-40A7-BEB5-E1A3C20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718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拒绝/异常不进入 local 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D1E3F-55E4-4B3D-A1BC-CCC9271E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provider、MCP、绝对路径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90E8F-F3C3-4093-ABDD-705AB65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428B6-8077-4759-8DF8-8CF07F69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MetaGPT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D89F8-F185-4E8B-B54F-58C1D29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SOP、结构化产物与评审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6B968-21DF-4B28-B9CA-E453D3C4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576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Plan 状态与局部 lint 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F191B-979E-4DD6-925C-8A9E98E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576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评估常不支配真实 sink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C8558-7DEB-4ECD-88AC-B141D044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35EC5-EB7B-43FB-9650-7D918178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OpenHands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718CE-EA40-482B-800D-A3150B0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Canvas 控制协议与子会话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801EE-0C0F-4A6B-84B5-13CC9EF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434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typed confirmation / isolation 请求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03FAB-222C-4BB0-BE2F-D43CD72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434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真正执行在外部 SDK/server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DBBBF-7B2E-4C4D-816F-477AFF4B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268C02-8E22-4754-9721-73D1191B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browser-use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444410-405B-4B9B-AB32-49B93285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浏览器与文件专用控制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D5ECC-892D-44A5-9590-A6714C5B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292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导航、上传下载的确定性边界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D8F8FF-F5C1-4C79-B987-80C663A5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292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默认宽松；自定义 action 旁路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363C1-4BA1-40E8-9D73-E64B73E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7022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DC1CF-56EC-41BB-BDC0-433BA96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局部强制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0E03B-C36C-4BCC-AEF0-8D3E01E5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AB15A-6C51-444C-BA62-5782545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041F9-C705-478B-B25E-1A04094B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真正接近“强制”的，是紧邻副作用的局部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52E7F-01E3-419A-84B1-58B05A63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F7F7F2"/>
                </a:solidFill>
              </a:rPr>
              <a:t>AutoGen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3BF6F-8C52-4DC5-9425-55E3B14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approval_func 已配置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10EEC-F240-4698-B447-C8C7F49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3A3A3"/>
                </a:solidFill>
              </a:defRPr>
            </a:pPr>
            <a:r>
              <a:rPr sz="2250" b="1">
                <a:solidFill>
                  <a:srgbClr val="A3A3A3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4E9D4-7C2B-4C9C-9DD9-468004B9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拒绝 ⇒ 不调用 code executor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895D7-13C8-45AC-A988-B5549AE4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仅 CodeExecutorAgent 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03055-6FC9-465A-B67E-53C43F07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381F0-D43B-4043-A880-CAE4F1B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F7F7F2"/>
                </a:solidFill>
              </a:rPr>
              <a:t>Cline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0DC43-6D13-4EBB-B63A-71AEFBA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local tool + autoApprove=false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68198-3313-4BE5-8244-58B4D9F1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3A3A3"/>
                </a:solidFill>
              </a:defRPr>
            </a:pPr>
            <a:r>
              <a:rPr sz="2250" b="1">
                <a:solidFill>
                  <a:srgbClr val="A3A3A3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F3F97-EDA5-44DA-9C19-347EA25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拒绝/异常 ⇒ 不调用 tool.execute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A430C-6B4C-43CA-A837-8320A1C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不覆盖 provider 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82E84-DB7B-4719-9A41-D86103F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EA27C-E885-42B1-B3F5-6E9CB771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F7F7F2"/>
                </a:solidFill>
              </a:rPr>
              <a:t>browser-use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476B0-EFE9-4D4D-B608-4400C43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框架拥有的导航/文件 sink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2521F-351C-4F5B-8FE8-C630C7BA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3A3A3"/>
                </a:solidFill>
              </a:defRPr>
            </a:pPr>
            <a:r>
              <a:rPr sz="2250" b="1">
                <a:solidFill>
                  <a:srgbClr val="A3A3A3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BC7F0-DEA4-441F-9BC6-E296D62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域、IP、路径检查 ⇒ 允许或阻断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AD406-CEA7-4EAB-A84E-3692A84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默认与 custom action 需单列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2B325-84A3-4BF5-8734-EC1190B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09310-6249-40CF-A558-BA9C460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局部 Dom 成立 ≠ 所有副作用都满足用户指令</a:t>
            </a:r>
          </a:p>
        </p:txBody>
      </p:sp>
    </p:spTree>
    <p:extLst>
      <p:ext uri="{BB962C8B-B14F-4D97-AF65-F5344CB8AC3E}">
        <p14:creationId xmlns:p14="http://schemas.microsoft.com/office/powerpoint/2010/main" val="922481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01508-F1C1-49FD-BE2B-A62E4448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失效边界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C023B-86B4-43C8-BC0C-062EB11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72D73-BEC3-4E39-A66C-ACB9CBD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32E0-B8DD-496F-B08D-8E7CC7CA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默认值、旁路与降级，决定了机制会不会真正生效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F414C-A5AB-48D8-A6E1-2FA61D11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默认关闭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600DE-EC30-4049-81CB-F6AD22D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OpenHands confirmation_mode 默认 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F2208-34FD-4942-BB11-A60C093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EC944-4754-49F9-8DE5-50DF0747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未列即放行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498FE-2436-4A2A-8699-8FACA72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Cline 未命中 policy 时默认 enabled / auto-approved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A3398-7355-4673-811E-56825A3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AAC60-32A7-49F3-A964-09B8DF7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保存后弱化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FFDD1-5DAB-4A78-B207-5BDEE68B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AutoGen approval callback 不可序列化恢复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937C7-D26A-45D7-9BA2-18FC171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19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4A8DE-5245-40B9-BAF6-0A49EA0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评估不支配 sink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9ECD4-7AAE-4569-A032-4FCBEC52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MetaGPT is_pass=false 仍可能保存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3A59C-F74A-480D-B1F2-C143189D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46B0-5313-43C3-894A-D332642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后置不等于阻断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9C506-3667-4E1F-BA68-99A4424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browser-use judge 不覆盖 agent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17644-5E8F-425B-AD33-8D4F3E4C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39C1E-C2D1-40CF-BBA1-419B8594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隔离失败降级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57EB5-DE87-4A75-B866-67BEE543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OpenHands worktree 失败可退回 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2C981-0A3C-45A3-80B5-7C8F5C0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D6D6CF"/>
                </a:solidFill>
              </a:rPr>
              <a:t>一个机制的名称很强，不代表它在默认配置和失败路径上仍然强。</a:t>
            </a:r>
          </a:p>
        </p:txBody>
      </p:sp>
    </p:spTree>
    <p:extLst>
      <p:ext uri="{BB962C8B-B14F-4D97-AF65-F5344CB8AC3E}">
        <p14:creationId xmlns:p14="http://schemas.microsoft.com/office/powerpoint/2010/main" val="1925271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96857-1361-4FF6-BB64-C5976DF2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证据复核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5C70-97F4-4BCD-A13F-FA9ED15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40C91-6FC6-46AF-9B0F-0CD650BD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B1889-2792-42D5-93E4-9F48F518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证据复核改变了结论：有代码，不等于已经完全证明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6DEC1-B241-4A1B-BE9E-29B7E145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7F2"/>
                </a:solidFill>
              </a:defRPr>
            </a:pPr>
            <a:r>
              <a:rPr sz="5700" b="1">
                <a:solidFill>
                  <a:srgbClr val="F7F7F2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D9366-4BB8-4894-84B5-227D7F87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A3A3A3"/>
                </a:solidFill>
              </a:rPr>
              <a:t>机制逐项复核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7A72D-ED06-4DA5-806F-EEE5A4D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7F2"/>
                </a:solidFill>
              </a:defRPr>
            </a:pPr>
            <a:r>
              <a:rPr sz="5700" b="1">
                <a:solidFill>
                  <a:srgbClr val="F7F7F2"/>
                </a:solidFill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02BCA-17D0-4677-82EE-466B478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A3A3A3"/>
                </a:solidFill>
              </a:rPr>
              <a:t>代码片段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7A62E-4F8D-44CC-B4C2-5B0E1F94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7F2"/>
                </a:solidFill>
              </a:defRPr>
            </a:pPr>
            <a:r>
              <a:rPr sz="5700" b="1">
                <a:solidFill>
                  <a:srgbClr val="F7F7F2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2037C-3AC4-4972-A34F-BB35027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A3A3A3"/>
                </a:solidFill>
              </a:rPr>
              <a:t>处实质修正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999EC-87F8-459E-A580-262F42B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BE3C3-D158-4DC5-9EB9-575E969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F7F7F2"/>
                </a:solidFill>
              </a:rPr>
              <a:t>仍需降级表述的证据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BA4F7-3375-4EFA-8996-1231341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65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7B8A0-393B-4EB0-8A74-A67FFAD9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外部执行边界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455C5-CD48-47FF-8009-81FD108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F265B-6EAB-4B2B-B58E-7AF8FA9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负命题与未发现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7323E-C7F6-4831-A5BC-3DB95AF3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433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B6289-7657-4273-B8A6-E19C83C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缺少同强度专项测试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DD5BF-9C3D-4FAF-BA41-090FFB51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1973B-566B-4500-98FA-C606D20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D6D6CF"/>
                </a:solidFill>
              </a:rPr>
              <a:t>静态证据不能替代行为评测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89FF7-89D7-4767-9131-7342D44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F7F7F2"/>
                </a:solidFill>
              </a:rPr>
              <a:t>每个机制都有实现、裁决/入口、默认/旁路和测试或缺口说明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7AFDB-729C-443D-8031-ADA0FD2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A3A3A3"/>
                </a:solidFill>
              </a:rPr>
              <a:t>OpenHands server 与 Cline provider 等跨仓行为仍不能闭合。</a:t>
            </a:r>
          </a:p>
        </p:txBody>
      </p:sp>
    </p:spTree>
    <p:extLst>
      <p:ext uri="{BB962C8B-B14F-4D97-AF65-F5344CB8AC3E}">
        <p14:creationId xmlns:p14="http://schemas.microsoft.com/office/powerpoint/2010/main" val="1265679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7C69B-EA1A-498B-8500-9DD4DF8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研究启示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68C40-7F90-44D3-B536-0FFB706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2A3AA-3477-458D-8E51-E401E9D4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3721C-C80B-4E67-BC93-6FF975A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Harness 评价重点应从“有机制”转向“能否完整调解”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12C87-75E1-4E4C-BA74-D57BDE4C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3A3A3"/>
                </a:solidFill>
              </a:defRPr>
            </a:pPr>
            <a:r>
              <a:rPr sz="2250" b="0">
                <a:solidFill>
                  <a:srgbClr val="A3A3A3"/>
                </a:solidFill>
              </a:rPr>
              <a:t>Guarantee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F1877-0711-437B-B79C-082AC02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2"/>
                </a:solidFill>
              </a:defRPr>
            </a:pPr>
            <a:r>
              <a:rPr sz="2700" b="1">
                <a:solidFill>
                  <a:srgbClr val="F7F7F2"/>
                </a:solidFill>
              </a:rPr>
              <a:t>= Coverage ∧ Mandatory ∧ FailClosed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38452-440F-4B67-9BE3-090E982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092C-1B9C-40DF-9F47-EE98FBB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FE6BC-326A-48E9-BC63-959317E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覆盖目标副作用入口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97267-9ACB-446F-AA3F-B85E79B9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不是只隐藏模型可见工具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8668C-DE3E-4788-8311-317EB53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49640-2343-47E7-B60E-B186554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Mandatory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5C556-2B16-4533-8E4F-967440CE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所有路径都必须经过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1048B-B489-4DD6-B991-134AD51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05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直接 API、provider、扩展不能旁路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02206-26E5-489C-9CD0-46DA297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3B9D3-36B5-45D7-BF8A-2E63748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F7F7F2"/>
                </a:solidFill>
              </a:rPr>
              <a:t>FailClosed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12B27-BDFF-4947-909E-D66475B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D6D6CF"/>
                </a:solidFill>
              </a:rPr>
              <a:t>故障时默认拒绝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2CA11-8055-4F23-8C35-91DA8782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A3A3A3"/>
                </a:solidFill>
              </a:rPr>
              <a:t>解析、网络、恢复失败不能自动放行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F5160-C223-480A-B666-AC05E43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2"/>
                </a:solidFill>
              </a:defRPr>
            </a:pPr>
            <a:r>
              <a:rPr sz="1500" b="1">
                <a:solidFill>
                  <a:srgbClr val="F7F7F2"/>
                </a:solidFill>
              </a:rPr>
              <a:t>后续实验应直接对这三个条件构造反例。</a:t>
            </a:r>
          </a:p>
        </p:txBody>
      </p:sp>
    </p:spTree>
    <p:extLst>
      <p:ext uri="{BB962C8B-B14F-4D97-AF65-F5344CB8AC3E}">
        <p14:creationId xmlns:p14="http://schemas.microsoft.com/office/powerpoint/2010/main" val="1627851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F60FB-9BAA-4C01-A3FA-12E098CF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54CF1-7255-4704-9B52-F476712E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A3A3A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B0138-645C-4F41-B936-127AB255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3EF69-7ACB-4BA6-9B2E-D740DDDC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F7F7F2"/>
                </a:solidFill>
              </a:rPr>
              <a:t>下一步：用可执行实验检验这些静态结论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852BC-AD6C-4B35-B9ED-6A57FED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A3A3"/>
                </a:solidFill>
              </a:defRPr>
            </a:pPr>
            <a:r>
              <a:rPr sz="1350" b="1">
                <a:solidFill>
                  <a:srgbClr val="A3A3A3"/>
                </a:solidFill>
              </a:rPr>
              <a:t>EXP-A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EA6E1-D8AA-434D-93F0-72B8A3C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05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F7F7F2"/>
                </a:solidFill>
              </a:rPr>
              <a:t>默认与旁路矩阵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DD21-5F56-4A4A-B0B7-0827895C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D6D6CF"/>
                </a:solidFill>
              </a:rPr>
              <a:t>逐项切换审批、provider、序列化与降级配置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F9CB2-9E21-44E3-AB58-75C8A4D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C8D44-C517-4507-9264-D845DA2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A3A3"/>
                </a:solidFill>
              </a:defRPr>
            </a:pPr>
            <a:r>
              <a:rPr sz="1350" b="1">
                <a:solidFill>
                  <a:srgbClr val="A3A3A3"/>
                </a:solidFill>
              </a:rPr>
              <a:t>EXP-B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75BFB-7E0E-43FC-96BC-E85653C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71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F7F7F2"/>
                </a:solidFill>
              </a:rPr>
              <a:t>同一意图、跨 sink 对照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46A6A-E257-42D2-B3E7-C9144216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D6D6CF"/>
                </a:solidFill>
              </a:rPr>
              <a:t>比较工具调用、shell、文件、浏览器入口是否一致受控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4E811-77FA-4091-BC1D-8F09DDF8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DD4A9-F837-4901-9C61-E470C039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A3A3"/>
                </a:solidFill>
              </a:defRPr>
            </a:pPr>
            <a:r>
              <a:rPr sz="1350" b="1">
                <a:solidFill>
                  <a:srgbClr val="A3A3A3"/>
                </a:solidFill>
              </a:rPr>
              <a:t>EXP-C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C5583-960B-4CB5-9AC8-44EB492B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38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F7F7F2"/>
                </a:solidFill>
              </a:rPr>
              <a:t>跨仓边界集成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1CD33-629B-4391-AF13-ADC449F0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D6D6CF"/>
                </a:solidFill>
              </a:rPr>
              <a:t>补查 OpenHands SDK/server 与外部 provider 的真实裁决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7F251-A56D-42C9-A9B5-60B4BF0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4F009-EE13-480C-895D-EAD4B84F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不再只问“有没有 guardrail”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7F747-0E14-4038-98F8-6A5D3D7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292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而要问：每个副作用由谁、何时、以何种失败语义裁决？</a:t>
            </a:r>
          </a:p>
        </p:txBody>
      </p:sp>
    </p:spTree>
    <p:extLst>
      <p:ext uri="{BB962C8B-B14F-4D97-AF65-F5344CB8AC3E}">
        <p14:creationId xmlns:p14="http://schemas.microsoft.com/office/powerpoint/2010/main" val="634961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2026-09-02T05:13:14.0370000Z</dcterms:created>
  <dcterms:modified xsi:type="dcterms:W3CDTF">2026-09-02T05:13:14.0370000Z</dcterms:modified>
</coreProperties>
</file>