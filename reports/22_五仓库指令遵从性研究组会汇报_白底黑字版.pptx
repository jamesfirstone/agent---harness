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238f8d12d44fc3" /><Relationship Type="http://schemas.openxmlformats.org/officeDocument/2006/relationships/extended-properties" Target="/docProps/app.xml" Id="Rcb58c00b01c84623" /><Relationship Type="http://schemas.openxmlformats.org/officeDocument/2006/relationships/officeDocument" Target="/ppt/presentation.xml" Id="Rc775a41943434a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dc27ca370245c9"/>
  </p:sldMasterIdLst>
  <p:notesMasterIdLst>
    <p:notesMasterId xmlns:r="http://schemas.openxmlformats.org/officeDocument/2006/relationships" r:id="R2ef01974991243be"/>
  </p:notesMasterIdLst>
  <p:sldIdLst>
    <p:sldId xmlns:r="http://schemas.openxmlformats.org/officeDocument/2006/relationships" id="256" r:id="Ra029107676174ab8"/>
    <p:sldId xmlns:r="http://schemas.openxmlformats.org/officeDocument/2006/relationships" id="257" r:id="R5185cbd54fb54818"/>
    <p:sldId xmlns:r="http://schemas.openxmlformats.org/officeDocument/2006/relationships" id="258" r:id="R2c578053af184b6d"/>
    <p:sldId xmlns:r="http://schemas.openxmlformats.org/officeDocument/2006/relationships" id="259" r:id="R8dccfe6665224117"/>
    <p:sldId xmlns:r="http://schemas.openxmlformats.org/officeDocument/2006/relationships" id="260" r:id="Rc65488314d3944c9"/>
    <p:sldId xmlns:r="http://schemas.openxmlformats.org/officeDocument/2006/relationships" id="261" r:id="R50ee1dc48b67408e"/>
    <p:sldId xmlns:r="http://schemas.openxmlformats.org/officeDocument/2006/relationships" id="262" r:id="R6f68fed7b4d04d7d"/>
    <p:sldId xmlns:r="http://schemas.openxmlformats.org/officeDocument/2006/relationships" id="263" r:id="R3745af91ec5c4007"/>
    <p:sldId xmlns:r="http://schemas.openxmlformats.org/officeDocument/2006/relationships" id="264" r:id="Rac44a8d205e040cd"/>
    <p:sldId xmlns:r="http://schemas.openxmlformats.org/officeDocument/2006/relationships" id="265" r:id="Rfb18e73564794d54"/>
    <p:sldId xmlns:r="http://schemas.openxmlformats.org/officeDocument/2006/relationships" id="266" r:id="R6ab7cedd1599453d"/>
    <p:sldId xmlns:r="http://schemas.openxmlformats.org/officeDocument/2006/relationships" id="267" r:id="Rb96d8f6320d2425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05666e6f10458b" /><Relationship Type="http://schemas.openxmlformats.org/officeDocument/2006/relationships/slideMaster" Target="/ppt/slideMasters/slideMaster1.xml" Id="R53dc27ca370245c9" /><Relationship Type="http://schemas.openxmlformats.org/officeDocument/2006/relationships/notesMaster" Target="/ppt/notesMasters/notesMaster1.xml" Id="R2ef01974991243be" /><Relationship Type="http://schemas.openxmlformats.org/officeDocument/2006/relationships/presProps" Target="/ppt/presProps.xml" Id="Re31ac7ec1a564be2" /><Relationship Type="http://schemas.openxmlformats.org/officeDocument/2006/relationships/tableStyles" Target="/ppt/tableStyles.xml" Id="R5f8eb5a6db4246ed" /><Relationship Type="http://schemas.openxmlformats.org/officeDocument/2006/relationships/slide" Target="/ppt/slides/slide1.xml" Id="Ra029107676174ab8" /><Relationship Type="http://schemas.openxmlformats.org/officeDocument/2006/relationships/slide" Target="/ppt/slides/slide2.xml" Id="R5185cbd54fb54818" /><Relationship Type="http://schemas.openxmlformats.org/officeDocument/2006/relationships/slide" Target="/ppt/slides/slide3.xml" Id="R2c578053af184b6d" /><Relationship Type="http://schemas.openxmlformats.org/officeDocument/2006/relationships/slide" Target="/ppt/slides/slide4.xml" Id="R8dccfe6665224117" /><Relationship Type="http://schemas.openxmlformats.org/officeDocument/2006/relationships/slide" Target="/ppt/slides/slide5.xml" Id="Rc65488314d3944c9" /><Relationship Type="http://schemas.openxmlformats.org/officeDocument/2006/relationships/slide" Target="/ppt/slides/slide6.xml" Id="R50ee1dc48b67408e" /><Relationship Type="http://schemas.openxmlformats.org/officeDocument/2006/relationships/slide" Target="/ppt/slides/slide7.xml" Id="R6f68fed7b4d04d7d" /><Relationship Type="http://schemas.openxmlformats.org/officeDocument/2006/relationships/slide" Target="/ppt/slides/slide8.xml" Id="R3745af91ec5c4007" /><Relationship Type="http://schemas.openxmlformats.org/officeDocument/2006/relationships/slide" Target="/ppt/slides/slide9.xml" Id="Rac44a8d205e040cd" /><Relationship Type="http://schemas.openxmlformats.org/officeDocument/2006/relationships/slide" Target="/ppt/slides/slide10.xml" Id="Rfb18e73564794d54" /><Relationship Type="http://schemas.openxmlformats.org/officeDocument/2006/relationships/slide" Target="/ppt/slides/slide11.xml" Id="R6ab7cedd1599453d" /><Relationship Type="http://schemas.openxmlformats.org/officeDocument/2006/relationships/slide" Target="/ppt/slides/slide12.xml" Id="Rb96d8f6320d242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6d5f2da76843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c69129785c4805" /><Relationship Type="http://schemas.openxmlformats.org/officeDocument/2006/relationships/notesMaster" Target="/ppt/notesMasters/notesMaster1.xml" Id="Rc8a66f19682745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e7d4ba8e3e4c1a" /><Relationship Type="http://schemas.openxmlformats.org/officeDocument/2006/relationships/notesMaster" Target="/ppt/notesMasters/notesMaster1.xml" Id="R03718cbbce764e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1f7b34d8db4048" /><Relationship Type="http://schemas.openxmlformats.org/officeDocument/2006/relationships/notesMaster" Target="/ppt/notesMasters/notesMaster1.xml" Id="R22d8cf4ce74b42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be178be23249f8" /><Relationship Type="http://schemas.openxmlformats.org/officeDocument/2006/relationships/notesMaster" Target="/ppt/notesMasters/notesMaster1.xml" Id="Rce0dbb4f1ae242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cf396b63da48f7" /><Relationship Type="http://schemas.openxmlformats.org/officeDocument/2006/relationships/notesMaster" Target="/ppt/notesMasters/notesMaster1.xml" Id="Rfa973a6c75da42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2ab143d37b42a8" /><Relationship Type="http://schemas.openxmlformats.org/officeDocument/2006/relationships/notesMaster" Target="/ppt/notesMasters/notesMaster1.xml" Id="Rcd2caff98cf04d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6762d759a14b39" /><Relationship Type="http://schemas.openxmlformats.org/officeDocument/2006/relationships/notesMaster" Target="/ppt/notesMasters/notesMaster1.xml" Id="R042d91f8807d47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c89cdff6cf9418e" /><Relationship Type="http://schemas.openxmlformats.org/officeDocument/2006/relationships/notesMaster" Target="/ppt/notesMasters/notesMaster1.xml" Id="Re7469287f26042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76fdddb389436c" /><Relationship Type="http://schemas.openxmlformats.org/officeDocument/2006/relationships/notesMaster" Target="/ppt/notesMasters/notesMaster1.xml" Id="R990bbff9201d46a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6ef49a1d55647d8" /><Relationship Type="http://schemas.openxmlformats.org/officeDocument/2006/relationships/notesMaster" Target="/ppt/notesMasters/notesMaster1.xml" Id="Rcc61f2f68baf4b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8bcf04eda64b88" /><Relationship Type="http://schemas.openxmlformats.org/officeDocument/2006/relationships/notesMaster" Target="/ppt/notesMasters/notesMaster1.xml" Id="R9879b606efb543f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18260b7a1a4587" /><Relationship Type="http://schemas.openxmlformats.org/officeDocument/2006/relationships/notesMaster" Target="/ppt/notesMasters/notesMaster1.xml" Id="Rb3f2f48dec8c41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【开场定位】这一页先建立研究口径。我们考察 AutoGen、Cline、MetaGPT、OpenHands 和 browser-use 五个开源 Agent 仓库，关心代码如何接收多来源指令、塑造模型可见上下文、限制工具动作，并在失败后停止、恢复或记录。五个仓库都绑定到固定提交，用户给出的热度数字只说明抽样背景，不参与项目排名。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“遵从指令”在本研究中是一条可追踪的控制链：指令进入上下文，模型提出计划或工具调用，参数经过解析与校验，执行器触发文件、终端、浏览器或外部服务，随后系统处理结果与后续状态。本轮最终纳入 35 个机制，并在证据报告中整理出 82 个带路径、行号和上下文的代码片段。后续页面会从生命周期、作用方式、失败语义和旁路四个角度比较这些机制。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【证据边界】静态分析可以确认实现入口、调用顺序、默认值、决定性分支和仓库内测试断言；它不能直接给出真实任务中的模型遵从率，也无法替外部 SDK、provider 或生产服务完成行为验证。E2 仅表示固定提交中存在相应测试断言，本轮没有把未执行的测试写成“测试通过”。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【过渡衔接】下一页把宽泛的“安全”或“遵从”讨论收窄成三个可核验问题：控制覆盖什么、失败时如何处理、证据能支持多强的结论。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reports/17_五仓库指令遵从性静态分析计划.md（研究对象、目标与证据边界）</a:t>
            </a:r>
          </a:p>
          <a:p xmlns:a="http://schemas.openxmlformats.org/drawingml/2006/main">
            <a:r>
              <a:t>- reports/18_五仓库指令遵从性静态分析实验记录.md（固定版本与实验范围）</a:t>
            </a:r>
          </a:p>
          <a:p xmlns:a="http://schemas.openxmlformats.org/drawingml/2006/main">
            <a:r>
              <a:t>- reports/20_五仓库指令遵从性逐机制代码片段证据.md（覆盖总表与核验结论）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【开场定位】本页把比较单位从“整个项目”转成一个可检查的控制关系：当 Agent 即将产生外部副作用时，哪段代码、哪个主体、在什么阶段拥有允许、拒绝、询问、变换或停止的裁决权。这样可以把“项目具有安全机制”改写成可回溯的代码问题。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【页面解读】第一组问题看覆盖面：控制是否抵达真实 sink，例如代码执行、文件写入、浏览器导航、MCP 或 provider 调用。第二组问题看失败语义：配置缺失、规则未命中、解析异常、网络失败、序列化恢复时，系统默认放行、拒绝、降级还是等待人工处理。第三组问题看证据等级：实现路径属于 E1，仓库测试源码中的可达断言属于 E2，独立动态复现与生产观测需要更高等级。页面上的 5 个固定快照、35 个机制与 L0–L8 生命周期编码构成后续比较的共同坐标系。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【证据边界】关键词、模块名称和 UI 文案都不能单独证明执行支配。如果某个 guard 只改变模型可见工具，执行器仍接受直接 API 调用，那么它最多约束候选空间。只有当具体 sink 前存在必经裁决，并且失败分支保持关闭，才可以讨论限定路径上的局部强制。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【过渡衔接】确定问题后，下一页说明我们如何从大规模关键词召回收敛到少量可验证机制，并把每条结论连接到调用链和代码证据。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reports/17_五仓库指令遵从性静态分析计划.md（研究问题、操作性定义）</a:t>
            </a:r>
          </a:p>
          <a:p xmlns:a="http://schemas.openxmlformats.org/drawingml/2006/main">
            <a:r>
              <a:t>- reports/18_五仓库指令遵从性静态分析实验记录.md（版本固定、扫描范围）</a:t>
            </a:r>
          </a:p>
          <a:p xmlns:a="http://schemas.openxmlformats.org/drawingml/2006/main">
            <a:r>
              <a:t>- reports/19_五仓库指令遵从性形式化分类与代码证据.md（结论口径）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这一页解释证据是怎样产生的。核心原则是“关键词负责发现候选，调用链负责确认作用”。我们先固定五个仓库的提交，再用同一组查询族扫描受版本控制文本，从而保证不同项目的召回口径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【页面解读】流程分为五步。第一步记录 commit、语言和文件范围；第二步使用 Instruction、ToolApproval、Validation、Execution、RecoveryAudit 五族词表召回候选；第三步从实现入口向前追踪调用者、默认配置和决定性分支；第四步从 shell、文件、浏览器、MCP 等真实副作用 sink 反向检查是否存在必经 gate；第五步把机制映射到测试源码中的断言，并统一登记生命周期、受控对象、决策主体、失败语义、旁路和证据等级。实验记录显示，原始命中会混入文档、类型定义、遥测、示例和测试夹具，因此每个纳入项都必须完成双向追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【证据边界】浅克隆适合固定工作树审计，无法支持历史演化结论。测试文件提供的是静态可达性和断言语义，不能自动升级为本地运行成功。外部 SDK 或 server 若不在仓库快照内，只能标记为边界，不能填补为已验证实现。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【过渡衔接】完成筛选后，35 个机制可以压缩成一条分层控制链。下一页先给出跨仓库的核心发现，再在后续页面逐层展开。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reports/17_五仓库指令遵从性静态分析计划.md（静态分析协议、验收标准）</a:t>
            </a:r>
          </a:p>
          <a:p xmlns:a="http://schemas.openxmlformats.org/drawingml/2006/main">
            <a:r>
              <a:t>- reports/18_五仓库指令遵从性静态分析实验记录.md（查询族、双向追踪、测试语义）</a:t>
            </a:r>
          </a:p>
          <a:p xmlns:a="http://schemas.openxmlformats.org/drawingml/2006/main">
            <a:r>
              <a:t>- reports/20_五仓库指令遵从性逐机制代码片段证据.md（逐机制证据结构）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【开场定位】本页给出最重要的跨仓结论：指令遵从相关控制分散在一条多层链路上，机制与真实副作用的距离越近，潜在保证通常越强；最终强度仍取决于覆盖范围、是否必经以及失败时是否关闭。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【页面解读】第一层是提示诱导，system prompt、rules、skills 和 SOP 提高规则可见性，主要改变模型生成概率。第二层是候选约束，schema、registry、tool preset 和参数模型缩小可表达或可选择的动作集合。第三层是局部执行 gate，例如批准回调、导航域策略、文件 containment，在限定入口前给出 allow、deny 或 ask 决定。第四层是后置恢复与观测，包括 termination、judge、reporter、replay ledger 和 lint rollback，它们影响后续步骤、恢复或审计。形式化上可对应 INDUCE、CONSTRAIN、ENFORCE、DETECT/RECOVER/AUDIT。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【证据边界】提示层无法保证每次生成都符合意图；schema 保证的是形状或枚举范围，不等同于自然语言授权；执行 gate 必须绑定具体 sink、配置和错误分支；后置机制获得了更多结果信息，但某些副作用此时已经发生。报告因此使用“限定路径上的局部保证”，并拒绝把某个单点控制扩展成项目级全局结论。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【过渡衔接】下一页把这四层放回 L0–L8 时间轴，观察控制究竟在运行的哪个阶段生效，以及为何 L5–L6 尤其关键。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reports/17_五仓库指令遵从性静态分析计划.md（形式化框架）</a:t>
            </a:r>
          </a:p>
          <a:p xmlns:a="http://schemas.openxmlformats.org/drawingml/2006/main">
            <a:r>
              <a:t>- reports/19_五仓库指令遵从性形式化分类与代码证据.md（作用方式与跨仓结论）</a:t>
            </a:r>
          </a:p>
          <a:p xmlns:a="http://schemas.openxmlformats.org/drawingml/2006/main">
            <a:r>
              <a:t>- reports/20_五仓库指令遵从性逐机制代码片段证据.md（逐机制核验）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【开场定位】这一页把控制链放到 Agent 的运行时间轴上。L0–L8 是统一编码，用来比较不同仓库中控制出现的位置、受控对象、跨步状态，以及它离真实副作用还有多远。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【页面解读】L0 装载配置、system prompt、规则和运行模式；L1 摄取系统、用户和环境消息；L2 整理上下文、记忆与优先级；L3 生成计划或结构化中间产物；L4 选择工具并检查名称、参数、路径或命令；L5 在执行前处理审批、确认和风险裁决；L6 落实容器、工作目录、浏览器域、文件路径、网络与进程边界；L7 检查结果、完成条件和评审结论；L8 负责重试、重规划、回滚、终止与审计。五个仓库在 L0–L4 普遍有实现，差异更集中在 L5 授权和 L6 资源隔离。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【证据边界】阶段靠后不自动等于保证更强。L5 若没有覆盖所有执行入口，旁路仍然存在；L6 若在失败后退回 shared，或者只设置工作目录而缺少 OS 级边界，隔离语义会减弱；L7–L8 即使准确发现问题，也可能只能停止后续轨迹。静态报告因此同时记录 sink、默认值和故障分支。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【过渡衔接】时间轴回答“何时生效”。下一页进一步回答“以什么方式生效”，并把 35 个机制归并为六类便于跨仓比较。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reports/17_五仓库指令遵从性静态分析计划.md（生命周期编码）</a:t>
            </a:r>
          </a:p>
          <a:p xmlns:a="http://schemas.openxmlformats.org/drawingml/2006/main">
            <a:r>
              <a:t>- reports/19_五仓库指令遵从性形式化分类与代码证据.md（生命周期覆盖、RQ2）</a:t>
            </a:r>
          </a:p>
          <a:p xmlns:a="http://schemas.openxmlformats.org/drawingml/2006/main">
            <a:r>
              <a:t>- reports/20_五仓库指令遵从性逐机制代码片段证据.md（各仓机制阶段）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【开场定位】本页把 35 个机制按作用方式归并，建立一套跨仓库共同语言。分类名称描述代码在控制链中改变了什么，不用于给项目整体打分。一个仓库通常同时覆盖多类机制，保证强度需要结合具体配置和 sink 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【页面解读】第一类是规范注入，包括 system prompt、rules、skills 与 SOP，主要产生 INDUCE 效果。第二类是上下文与路由治理，通过 message filter、speaker、sub-agent 和 memory 控制信息流。第三类是动作空间治理，使用 allow-list、schema、registry、Pydantic 或 JSON 协议约束候选动作。第四类是执行前裁决，包括 approval、confirmation、navigation policy。第五类是资源与副作用边界，包括 sandbox、容器、path、secret、上传下载 containment。第六类是完成、恢复与观测，包括 termination、judge、reporter、rollback 和 replay ledger。前三类集中在输入与候选空间，后三类更多接触执行、状态恢复和审计。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【证据边界】图中 ENFORCE 的星号表示条件成立：目标 sink 被覆盖、调用方无法轻易绕开、解析或审批失败时默认拒绝。browser-use 的导航 watchdog、AutoGen 的 code approval、OpenHands 的确认协议都需要保留各自的仓库边界和配置前提。单个代码片段只能证明局部控制关系，无法推出全局自然语言遵从。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【过渡衔接】下一页把六类机制映射回五个仓库，在同一坐标下对照每个项目最强的静态证据和最重要的限制。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reports/19_五仓库指令遵从性形式化分类与代码证据.md（RQ1、RQ3、完整调解判定）</a:t>
            </a:r>
          </a:p>
          <a:p xmlns:a="http://schemas.openxmlformats.org/drawingml/2006/main">
            <a:r>
              <a:t>- reports/20_五仓库指令遵从性逐机制代码片段证据.md（机制覆盖总表）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【开场定位】这一页用于横向比较。比较对象是固定提交中最强的局部控制性质，以及它成立所需的路径、配置和外部边界。页面不表达项目综合排名，也不代表真实部署的安全水平。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【页面解读】AutoGen 的特点是可组合原语丰富：Workbench 校验工具与参数，InterventionHandler 可改写或丢弃消息，CodeExecutorAgent 在配置 approval callback 时能在执行前拒绝代码。Cline 的 local AgentTool 主链最清楚，模型输出依次经过 normalize、hook、policy、approval，随后才进入 execute。MetaGPT 擅长需求分解、SOP、结构化产物、review 与 rollback。OpenHands 当前仓库主要证明 Canvas 如何组装 instructions、skills、tools、confirmation 和子会话请求，真实执行位于外部 SDK/server。browser-use 在自有浏览器与文件 sink 上实现较多确定性检查，包括动作参数、导航域、secret、上传下载路径和陈旧页面保护。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【证据边界】AutoGen 的审批需要显式配置；Cline 的 provider 和 MCP 路径不共享完整本地审批链；MetaGPT 缺少覆盖通用副作用的统一授权层；OpenHands 无法在当前仓库内闭合 server-side 保证；browser-use 的自定义 action、远端路径和模型自报完成保留旁路。因此，横向表展示的是控制设计取向与局部证据。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【过渡衔接】下一页从横向地图中抽出三条最接近执行强制的路径，具体说明“局部强制”如何成立、又在哪里停止。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reports/19_五仓库指令遵从性形式化分类与代码证据.md（各仓机制、7.2–7.3）</a:t>
            </a:r>
          </a:p>
          <a:p xmlns:a="http://schemas.openxmlformats.org/drawingml/2006/main">
            <a:r>
              <a:t>- reports/20_五仓库指令遵从性逐机制代码片段证据.md（第 3–7 节）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【开场定位】本页聚焦本轮静态证据中最接近“执行前支配”的三类路径。它们都能在某个具体 sink 前改变动作是否发生，但成立范围受工具入口、配置和故障语义约束。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【页面解读】第一条是 AutoGen CodeExecutorAgent。调用方提供 approval_func 后，拒绝结果或 callback 异常会阻止代码进入 executor；默认 approval_func 为 None 时源码会自动执行，序列化恢复还会把回调重建为空。第二条是 Cline local AgentTool。policy 禁用、hook skip、审批拒绝、缺少 callback 或审批异常都可能生成 skip reason，从而不进入本地 tool.execute；provider.callTool、MCP wrapper 和 detached process 构成范围外路径。第三条是 browser-use。Action Registry 用 Pydantic 复核动作名和参数，SecurityWatchdog 在导航事件前检查 URL，managed filesystem 对上传、下载与路径做 containment；域/IP 默认配置、自定义 action 与 remote path 会改变覆盖面。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【证据边界】这些路径可以支持“给定配置和指定 sink 上的局部强制”。它们尚未同时满足 AllSideEffects 范围内的 Coverage、Mandatory 与 FailClosed。容器或工作目录主要限制危害半径，也不能单独证明动作符合用户指令。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【过渡衔接】下一页转向反面证据：控制在何种默认、异常、序列化、外部执行或后置检查条件下失去作用。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reports/19_五仓库指令遵从性形式化分类与代码证据.md（AutoGen、Cline、browser-use；完整调解判定）</a:t>
            </a:r>
          </a:p>
          <a:p xmlns:a="http://schemas.openxmlformats.org/drawingml/2006/main">
            <a:r>
              <a:t>- reports/20_五仓库指令遵从性逐机制代码片段证据.md（对应代码片段与 sink）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【开场定位】静态审计的价值很大一部分来自失效条件分析。找到 guard 只是起点，还要继续检查默认值、未匹配规则、序列化恢复、外部 provider、故障降级与执行后判断，才能知道控制在真实调用链中何时消失。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【页面解读】OpenHands 的 confirmation mode 默认关闭，worktree 创建失败会退回 shared，真正 pending action 与执行阻断位于外部 server。Cline 对未列入 policy 的本地工具可自动批准，provider 和通用 MCP 不共享同一 gate，pre-hook 异常多数继续执行。AutoGen 的 code approval 属于可选回调，配置恢复后可能变成 None。MetaGPT 的 evaluation 结果没有稳定支配 save_framework，人工确认使用字符串包含匹配，Terminal 黑名单范围有限。browser-use 的域与 IP 限制默认较宽松，自定义 action 的 domain filter 主要发生在 schema 构造阶段，trace judge 和 done 机制又位于动作之后。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这里列出的都是固定提交中的可见边界，不代表相关团队没有在外部部署补充控制。静态分析只能对仓库内可观察路径负责。旁路也不等于必然产生危害，它说明全局保证所需的完整调解条件尚未由当前代码证据覆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【过渡衔接】下一页说明我们如何把这些边界和正向机制逐一落实到代码片段，确保每个结论都有可复核的证据卡片。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reports/19_五仓库指令遵从性形式化分类与代码证据.md（各仓边界、RQ3）</a:t>
            </a:r>
          </a:p>
          <a:p xmlns:a="http://schemas.openxmlformats.org/drawingml/2006/main">
            <a:r>
              <a:t>- reports/20_五仓库指令遵从性逐机制代码片段证据.md（8.3 修正清单与逐机制核验）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【开场定位】这一页解释证据复核的颗粒度。我们没有停在机制列表，而是为 35 个机制建立代码证据卡片，共整理 82 个片段，覆盖实现入口、调用者、真实 sink、默认或旁路，以及能确认行为的测试断言。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【页面解读】每张证据卡先给机制 ID 和形式化八元组，再列源码文件、行号、最小必要代码与作用说明。随后检查决定性分支：例如审批拒绝是否真的跳过 executor，路径检查是否在文件写入前发生，URL watchdog 是否能触达浏览器导航，评审结果是否支配保存。第三步补上默认和异常：开关默认值、未命中规则、callback 缺失、解析失败、外部 provider 与降级路径。最后记录测试锚点，明确测试断言到达的是哪条代码路径。报告 20 将代码、判读与边界放在同一处，便于复查和后续动态实验设计。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【证据边界】E1 表示存在可追踪实现，E2 表示仓库中存在对应测试源码；两者都不等同于独立动态复现。行号绑定固定提交，仓库更新后需要重新校准。OpenHands 等外部执行边界无法用当前仓库片段补全。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【过渡衔接】下一页把复核方法转成 Harness 设计准则，重点看 Coverage、Mandatory 与 FailClosed 三个条件。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reports/18_五仓库指令遵从性静态分析实验记录.md（证据核验流程、测试语义）</a:t>
            </a:r>
          </a:p>
          <a:p xmlns:a="http://schemas.openxmlformats.org/drawingml/2006/main">
            <a:r>
              <a:t>- reports/20_五仓库指令遵从性逐机制代码片段证据.md（35 个机制、82 个片段、证据卡结构）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【开场定位】本页将调研结论转化为 Harness 的评价框架。判断一个机制是否能提供强保证，需要同时回答三个问题：目标副作用是否被覆盖，控制是否成为必经路径，失败时是否保持关闭。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【页面解读】Coverage 要从 sink 清单出发，枚举 shell、文件、浏览器、网络、MCP、provider、插件与后台进程，再检查每个入口是否由同一策略覆盖。Mandatory 要寻找直接 API、外部服务、序列化恢复、自定义工具和模式切换等旁路；模型看不到某工具，并不代表执行器不能被其他路径调用。FailClosed 要主动触发配置缺失、解析异常、审批服务失联、工作区创建失败和恢复失败，观察系统是否拒绝、等待、降级或继续。三者可以写成 Guarantee(g)=Coverage(g)∧Mandatory(g)∧FailClosed(g)。任何一项缺失，都应把结论收窄到具体路径。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【证据边界】这个公式是工程审计准则，用来组织可证伪问题；它本身不构成运行时证明。实际验证仍需要 sink 清单、故障注入、旁路测试、审计事件和可重复环境。对于外部 provider，还需要跨组件追踪请求与执行结果。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【过渡衔接】下一页给出可执行的下一步：把当前静态证据升级为围绕真实副作用的动态实验矩阵。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reports/17_五仓库指令遵从性静态分析计划.md（阶段 E、验收标准）</a:t>
            </a:r>
          </a:p>
          <a:p xmlns:a="http://schemas.openxmlformats.org/drawingml/2006/main">
            <a:r>
              <a:t>- reports/19_五仓库指令遵从性形式化分类与代码证据.md（7.3、RQ3）</a:t>
            </a:r>
          </a:p>
          <a:p xmlns:a="http://schemas.openxmlformats.org/drawingml/2006/main">
            <a:r>
              <a:t>- reports/20_五仓库指令遵从性逐机制代码片段证据.md（旁路与证据边界）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定位】最后一页把研究收束为下一阶段的实验计划。当前成果已经回答“固定提交中有哪些控制尝试、它们在哪个阶段生效、支配什么、如何失效”，下一步需要验证这些静态关系在可运行系统中是否保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【页面解读】第一项工作是建立副作用 sink inventory，把文件写入、命令执行、浏览器导航、网络请求、MCP、provider、插件和后台进程列成统一清单。第二项是设计 bypass matrix：对每个机制切换默认开关、直接调用 API、改变 provider、破坏序列化、注入审批异常、触发 shared 降级，并记录是否仍能到达 sink。第三项是加入 instruction-conflict suite，构造系统、用户、工具返回和环境规则之间的冲突，观察裁决主体与优先级。第四项是做动态追踪，在 gate、sink 与恢复节点记录结构化事件，形成可重复的 E3 证据。最终评价单位应是“副作用入口与控制关系”，并持续保留固定版本和实验配置。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【证据边界】本轮结论限定在五个固定提交和已审计代码路径。我们能够确认大量提示、约束、局部 gate、恢复和审计机制；当前证据仍不足以支持“所有外部副作用都必须经过统一、不可绕过、fail-closed 的指令一致性裁决”这一全称命题。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【收束】组会讨论可以围绕一个问题展开：若要把现有局部控制组合成统一 Harness，哪些 sink 必须先纳入，哪些故障应默认拒绝，哪些外部边界需要联合验证。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reports/17_五仓库指令遵从性静态分析计划.md（动态实验方向）</a:t>
            </a:r>
          </a:p>
          <a:p xmlns:a="http://schemas.openxmlformats.org/drawingml/2006/main">
            <a:r>
              <a:t>- reports/18_五仓库指令遵从性静态分析实验记录.md（实验限制与复现信息）</a:t>
            </a:r>
          </a:p>
          <a:p xmlns:a="http://schemas.openxmlformats.org/drawingml/2006/main">
            <a:r>
              <a:t>- reports/19_五仓库指令遵从性形式化分类与代码证据.md（8–9 节）</a:t>
            </a:r>
          </a:p>
          <a:p xmlns:a="http://schemas.openxmlformats.org/drawingml/2006/main">
            <a:r>
              <a:t>- reports/20_五仓库指令遵从性逐机制代码片段证据.md（8–9 节）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5ef52f461145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428473869449f0" /><Relationship Type="http://schemas.openxmlformats.org/officeDocument/2006/relationships/slideLayout" Target="/ppt/slideLayouts/slideLayout1.xml" Id="R2296bac3ed5243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96bac3ed5243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ff8d697dea4742" /><Relationship Type="http://schemas.openxmlformats.org/officeDocument/2006/relationships/notesSlide" Target="/ppt/notesSlides/notesSlide1.xml" Id="Rff655425162c4a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c7b26e4f54610" /><Relationship Type="http://schemas.openxmlformats.org/officeDocument/2006/relationships/notesSlide" Target="/ppt/notesSlides/notesSlide2.xml" Id="Rf3510b8584b44a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4ff791bae54aff" /><Relationship Type="http://schemas.openxmlformats.org/officeDocument/2006/relationships/notesSlide" Target="/ppt/notesSlides/notesSlide3.xml" Id="Rae9f8f0d9cf943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7a61f3be84d02" /><Relationship Type="http://schemas.openxmlformats.org/officeDocument/2006/relationships/notesSlide" Target="/ppt/notesSlides/notesSlide4.xml" Id="Rf4bd4fccfd6c4c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52cb7b91e4890" /><Relationship Type="http://schemas.openxmlformats.org/officeDocument/2006/relationships/notesSlide" Target="/ppt/notesSlides/notesSlide5.xml" Id="Ra37da7f71bc74f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c23648e4c4244" /><Relationship Type="http://schemas.openxmlformats.org/officeDocument/2006/relationships/notesSlide" Target="/ppt/notesSlides/notesSlide6.xml" Id="Rf59a03083b634e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bc88a18ae44e9" /><Relationship Type="http://schemas.openxmlformats.org/officeDocument/2006/relationships/notesSlide" Target="/ppt/notesSlides/notesSlide7.xml" Id="R3c606cd00f814a0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13f835fb74c21" /><Relationship Type="http://schemas.openxmlformats.org/officeDocument/2006/relationships/notesSlide" Target="/ppt/notesSlides/notesSlide8.xml" Id="R6850a3977cae4f5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4b832f6444d0a" /><Relationship Type="http://schemas.openxmlformats.org/officeDocument/2006/relationships/notesSlide" Target="/ppt/notesSlides/notesSlide9.xml" Id="R44d81eb47fe541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93b6cd56c4f5e" /><Relationship Type="http://schemas.openxmlformats.org/officeDocument/2006/relationships/notesSlide" Target="/ppt/notesSlides/notesSlide10.xml" Id="Ra56c1868ddd548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c230e453a45d4" /><Relationship Type="http://schemas.openxmlformats.org/officeDocument/2006/relationships/notesSlide" Target="/ppt/notesSlides/notesSlide11.xml" Id="R8345de0f911f4e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117dc6a234f6c" /><Relationship Type="http://schemas.openxmlformats.org/officeDocument/2006/relationships/notesSlide" Target="/ppt/notesSlides/notesSlide12.xml" Id="R955c938836f442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2BEEE-EB17-46D3-8F4C-4A8FCECD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600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CBFA5C-8884-4892-9985-4D92EC92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7F7F2"/>
                </a:solidFill>
              </a:defRPr>
            </a:pPr>
            <a:r>
              <a:rPr sz="4200" b="1">
                <a:solidFill>
                  <a:srgbClr val="111111"/>
                </a:solidFill>
              </a:rPr>
              <a:t>Agent 如何“遵从指令”？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3675C-3B24-4907-AE7A-B9F2A513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D6D6CF"/>
                </a:solidFill>
              </a:defRPr>
            </a:pPr>
            <a:r>
              <a:rPr sz="2100" b="0">
                <a:solidFill>
                  <a:srgbClr val="333333"/>
                </a:solidFill>
              </a:rPr>
              <a:t>五个开源仓库的静态代码审计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8263F-8988-4D5D-B8E5-325C68DC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3A3A3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AutoGen · Cline · MetaGPT · OpenHands · browser-use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B62C7-07DB-41CA-BA2F-F4826868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3A3A3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组会汇报｜2026.09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066087-8C29-44DE-B72C-88AB4831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734050"/>
            <a:ext cx="2400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F7F7F2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5 / 35 / 82</a:t>
            </a:r>
          </a:p>
        </p:txBody>
      </p:sp>
    </p:spTree>
    <p:extLst>
      <p:ext uri="{BB962C8B-B14F-4D97-AF65-F5344CB8AC3E}">
        <p14:creationId xmlns:p14="http://schemas.microsoft.com/office/powerpoint/2010/main" val="1070823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8AF036-D382-4017-9CCF-418C3121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846FB3-7152-4ED8-8BB7-5BAD6B0F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D7964-26F6-4887-AA05-4CAF3B17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57835-B4CF-417D-BCC1-D691240C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我们关注控制是否真正支配执行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23AD7-CDAC-45FC-AE24-0B905A72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3A3A3"/>
                </a:solidFill>
              </a:defRPr>
            </a:pPr>
            <a:r>
              <a:rPr sz="1500" b="1">
                <a:solidFill>
                  <a:srgbClr val="555555"/>
                </a:solidFill>
              </a:rPr>
              <a:t>核心问题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860A9-915E-48AA-AA36-E63D2E75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5524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7F7F2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当 Agent 即将产生副作用时，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7F7F2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谁在什么阶段做决定？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41D16-69EF-491D-9888-8849E5EF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2C96F3-D612-4C12-87E6-AFC8A027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0"/>
            <a:ext cx="501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控制是否覆盖真实 sink，而不只影响提示词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CD32D-69EC-4C48-8F7F-2EA7205A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6247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B7941F-F216-429E-BC0D-4D068D47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72000"/>
            <a:ext cx="501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默认、异常与旁路是否会让约束失效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645232-3E8A-435B-91C0-AEB31002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3397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C95A10-99F5-4A89-8853-901956D4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43500"/>
            <a:ext cx="501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仓库内测试究竟证明了哪一层性质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0EF216-CE5A-4190-9503-8E2633F8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4310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7FFDAB-1A1C-43BD-ABD1-7739C10E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95500"/>
            <a:ext cx="1333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F7F7F2"/>
                </a:solidFill>
              </a:defRPr>
            </a:pPr>
            <a:r>
              <a:rPr sz="5400" b="1">
                <a:solidFill>
                  <a:srgbClr val="111111"/>
                </a:solidFill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DC7292-0DAE-4C8D-B67B-E54FDB993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003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6D6CF"/>
                </a:solidFill>
              </a:defRPr>
            </a:pPr>
            <a:r>
              <a:rPr sz="1650" b="0">
                <a:solidFill>
                  <a:srgbClr val="333333"/>
                </a:solidFill>
              </a:rPr>
              <a:t>个固定仓库快照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5B577-9ED6-43A6-A5ED-EBAFCC95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57550"/>
            <a:ext cx="1619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F7F7F2"/>
                </a:solidFill>
              </a:defRPr>
            </a:pPr>
            <a:r>
              <a:rPr sz="5400" b="1">
                <a:solidFill>
                  <a:srgbClr val="111111"/>
                </a:solidFill>
              </a:rPr>
              <a:t>35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C041E3-F497-430D-BAE4-083E1CBD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623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6D6CF"/>
                </a:solidFill>
              </a:defRPr>
            </a:pPr>
            <a:r>
              <a:rPr sz="1650" b="0">
                <a:solidFill>
                  <a:srgbClr val="333333"/>
                </a:solidFill>
              </a:rPr>
              <a:t>个纳入机制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7C1767-57E9-4FC5-A584-9CB5114B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57700"/>
            <a:ext cx="228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7F7F2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L0–L8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2D7CAB-0289-4DC5-86F8-437102D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197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6D6CF"/>
                </a:solidFill>
              </a:defRPr>
            </a:pPr>
            <a:r>
              <a:rPr sz="1650" b="0">
                <a:solidFill>
                  <a:srgbClr val="333333"/>
                </a:solidFill>
              </a:rPr>
              <a:t>覆盖完整 Agent 生命周期</a:t>
            </a:r>
          </a:p>
        </p:txBody>
      </p:sp>
    </p:spTree>
    <p:extLst>
      <p:ext uri="{BB962C8B-B14F-4D97-AF65-F5344CB8AC3E}">
        <p14:creationId xmlns:p14="http://schemas.microsoft.com/office/powerpoint/2010/main" val="5892296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9344D8-21FF-41FA-BA74-98EDF9E6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研究方法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582CCE-1BAC-452B-8A24-A2BD5DD0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4CFBC3-DAE2-4F09-8DF4-02506668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B762F7-25D5-4431-ABAE-5D986887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从关键词到副作用入口：只有闭合证据链才纳入结论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59A5E-6E0D-445D-9CFE-854C4E57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962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A145CA-04B6-4722-BB42-26B4DAAC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098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59AFD-A19E-4E3C-80EE-2726562E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146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50505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5C5DE-5E3B-475A-B1C6-0CC66256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7F7F2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固定版本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E8A9D-E4E9-4BD0-9C80-C16FCD30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3A3A3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记录 commit 与范围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A9FEA1-A13D-4A4F-9DFA-736CA716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098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78DDBE-073F-4655-973A-AF1D03D0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146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50505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EC48DD-3E69-4931-BD58-165C96E9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385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7F7F2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候选召回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5CCBEE-D932-49CE-B785-18F58384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7670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3A3A3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五类统一查询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FCD011-1796-4730-B9D9-95F8802F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098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021438-88FD-4BDF-A2D3-38CD987C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146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50505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A38DA-AC28-4BB9-9BBB-63A647D1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385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7F7F2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前向追踪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8566E9-F6FA-430B-9E98-E40C321B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7670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3A3A3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入口→分支→调用者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EC260B-250B-4F3B-8CBD-B21C744B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098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FBF0D8-FFC3-46D1-BDA1-15031739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146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50505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376DFF-57B4-4F5E-9A27-818710BB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385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7F7F2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反向核验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E85812-2407-416B-A0C6-E633ACBE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7670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3A3A3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sink→是否必经 gate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429977-9CA8-4399-92D4-CC949123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8098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2B22BB-AC1F-46AF-8BD4-DCB42649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9146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50505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8ABDE2-DEDA-4622-BE87-AD455547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385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7F7F2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边界编码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964956-6799-4150-BEE7-D570BFC9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7670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3A3A3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默认·异常·旁路·测试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F2124C-54BC-4AD5-A576-70BB527C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4B3290-799F-49A4-AD23-6CC7A4A7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7F7F2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E2 = 固定提交中存在真实测试断言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6E2EC2-E12F-4949-A851-38F34239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48640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650" b="0">
                <a:solidFill>
                  <a:srgbClr val="A3A3A3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不等于本轮测试已运行通过</a:t>
            </a:r>
          </a:p>
        </p:txBody>
      </p:sp>
    </p:spTree>
    <p:extLst>
      <p:ext uri="{BB962C8B-B14F-4D97-AF65-F5344CB8AC3E}">
        <p14:creationId xmlns:p14="http://schemas.microsoft.com/office/powerpoint/2010/main" val="17656488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8E62AB-93F6-439F-BF24-3518E997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核心发现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61286-E7B4-4438-BA57-A658754D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07BE10-1E02-43D4-BCB8-F855C2A9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7ACB0-93E1-4377-B9FA-0CF7BDB4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核心结论：指令遵从由多层控制链共同构成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1C71F-D959-4ADA-B687-8CD7BCF9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AE060-8DC5-4A22-976F-FB646240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7F7F2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提示诱导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E9E16-44F1-42A5-BA13-986BB0FC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2C7BF-9307-4706-B0CA-30A54E11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让模型看见规则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BC2871-17F2-4CAA-97CD-E3A4A65D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改变生成概率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29DCB-EC35-44F4-82EA-B9783D6B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9550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A511AB-2234-4F6B-97EE-2308B4D7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7F7F2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候选约束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BAE09A-CCAE-4CE0-91CB-C905438E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14325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B34C5B-860E-4BBA-A381-E6748146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09950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限定工具与格式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167E4-6904-4AC6-A5F9-5C10F867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910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减少可达动作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323D56-BAEB-4BBD-8AC0-7E6567A8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85BF13-3A4A-47B6-92E9-CC92BAD4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7F7F2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局部执行 gate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3836C-3D46-4314-9CF7-134385BE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4325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0FDC3-B0AA-4817-946F-A20E8A92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09950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在特定 sink 前裁决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92E1F2-65AE-497B-8EF0-833C9D12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910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可能真正阻断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EADC36-C17C-454E-865B-19A41B09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07FA62-7CE9-4839-9BFF-1DE27E0B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57175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7F7F2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后置恢复/观测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ACACD4-32A7-420B-A244-4111ADE9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4325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FF89EC-592B-4AE8-B10B-0E286852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09950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停止、回滚、审计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7C9BD3-4277-4AC7-8872-E6CCA7BD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910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影响后续轨迹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DD1C95-B00B-419D-8B90-2D8A9994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3C5B82-1517-45B1-8E7F-968E01DF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91150"/>
            <a:ext cx="1032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0505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能约束输出形状，不代表能证明动作符合用户意图</a:t>
            </a:r>
          </a:p>
        </p:txBody>
      </p:sp>
    </p:spTree>
    <p:extLst>
      <p:ext uri="{BB962C8B-B14F-4D97-AF65-F5344CB8AC3E}">
        <p14:creationId xmlns:p14="http://schemas.microsoft.com/office/powerpoint/2010/main" val="12682524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586066-F18F-41DB-93BE-5FCC95B1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生命周期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83B72-1D48-4F50-B04B-D7011646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7B853-E719-42C0-AB6B-73125396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3025C2-DFD4-4ACB-9C00-66C3558A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控制分散在 L0–L8，真正差异集中在授权与隔离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DE1AFD-9171-4A84-8D9E-4630394D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10382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2BF941-2AA2-4484-9D7E-936852D6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3BB18-04C8-4278-B3B2-E3680DC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03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C20A0-17C4-4C1B-96A3-6CA7C568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配置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BC58C1-A5ED-4149-B308-8995CDE9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8575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FFA318-19B3-419F-912E-080CB8B3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003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665B9-5BEB-4792-B372-BB32B478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676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指令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DCC76-4D47-40D5-A93A-361F6479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575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D68834-85BC-4C95-B368-B1ACBC1F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003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62B075-1826-43FD-A234-476225C3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76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规划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C667D9-102E-47ED-90C4-A974E9DE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575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D5253B-C596-44BC-B19B-EEEAF739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003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44B69-2341-4113-856B-DA708947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76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生成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7DFA98-F387-4818-BE50-703CAB6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575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DFD4F4-B63C-47DC-ABF3-96ED734F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003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12A932-DE62-4E88-AA54-DF2CD9ED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76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解析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4FAA90-84B8-44AA-9B95-4F03363C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8575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B3ECAA-5942-46B2-9CCD-B71D26C3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003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50505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L5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93D9EC-C92A-43B2-91E0-9037DFCB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2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授权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EB134A-732E-445F-9A2B-EF32AB1D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575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B3A304-2A7A-4154-9AE6-CA4F693F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03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50505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L6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57835B-7072-488C-A8C6-F474EC4D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76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2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隔离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581012-D007-4521-A279-BFA6061A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575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3FE940-4FE3-4299-96BA-712A98BC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003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39F2C1-D306-4254-809D-26CD2B0D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恢复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5C698A-1A84-4E0B-ADAC-983F6478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8575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8D62B4-393E-4D9F-8DAE-CE2EBA05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003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4772F4-3EB4-45E0-BC61-D609204D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676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审计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E247B8-6385-469D-A7D8-39470FFB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3A3A3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生成前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86DCD6-8190-491C-A046-69A21843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95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副作用临界点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903783-776A-427A-83C6-16028786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9550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A3A3A3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执行后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1093EE-410F-4BE8-8968-4CC8EFF4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060734-F667-4BD0-858E-6BFC0E92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7F7F2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越靠后，越接近真实执行状态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EBF6A6-BBF6-4F62-AF71-60CD3928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9700"/>
            <a:ext cx="531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875" b="0">
                <a:solidFill>
                  <a:srgbClr val="A3A3A3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但越难撤销已经发生的副作用</a:t>
            </a:r>
          </a:p>
        </p:txBody>
      </p:sp>
    </p:spTree>
    <p:extLst>
      <p:ext uri="{BB962C8B-B14F-4D97-AF65-F5344CB8AC3E}">
        <p14:creationId xmlns:p14="http://schemas.microsoft.com/office/powerpoint/2010/main" val="3548243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9B855F-7074-4A16-90DD-5DEB9D8C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机制分类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DED822-2EF7-4E0E-BF36-E8605D39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7CD50-8225-49C6-A7B4-D1DC3F25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C16333-23E7-4468-B935-7C6D9A97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35 个机制归为六类，但只有少数能在限定入口形成强制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542F9-71D3-436A-9114-3DFB5633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586EC-E008-41AC-8437-8C3521B4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66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规范注入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F758B5-AE2E-4976-8E67-E2343E30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95475"/>
            <a:ext cx="500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system prompt · rules · skills · SOP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18B74-BDAA-49AF-983C-F32E4DC0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8954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INDUCE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6B3DDE-4EBC-4D2F-B742-68BF3F13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C3A04F-D323-4423-9CA2-0C9F9732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44B861-933C-493C-AF65-14B94B7C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336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上下文与路由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02DFF-6853-4AAD-9C26-5D194DDA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62225"/>
            <a:ext cx="500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message filter · speaker · sub-agent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E04195-A848-41EF-8CDE-455D9924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6222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CONSTRAIN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DCED6A-1CB5-4DAD-A6C9-E507314D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1C8DDE-6C97-433E-8334-7CB3E75C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62FA05-E388-4E70-A784-B77A2729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004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动作空间治理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445BDE-F48B-454C-A6F5-E5317388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500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allow-list · schema · registry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6C1119-48CA-4438-89A2-ACC93892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2289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CONSTRAIN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777299-9EF1-47F4-99FF-7339ED6B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210A9B-B773-4E56-A316-A157B1C8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2D7AA8-DF8E-492B-8AC9-A2BF4E6C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67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执行前裁决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831948-4D13-4A0E-8295-296E0E02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95725"/>
            <a:ext cx="500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approval · confirmation · navigation 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BD2951-EA37-4845-9C04-5D0C6441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89572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F7F7F2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ENFORCE*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63AFAC-4D6B-4DA9-BA30-4F5DE00B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D398B8-3F2A-49AF-A6A1-11BCEB71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B21614-FA14-4139-AF9E-E0E3FB83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33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资源与副作用边界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ACE3DD-3D37-4E0A-A9C2-D79D6B0D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62475"/>
            <a:ext cx="500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sandbox · path · secret · containment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CF6F14-BA2C-4EE8-9711-9DD242BA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5624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F7F7F2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ENFORCE*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19084B-C6B5-49C4-A914-5F76286E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D10F4F-E1F5-49FA-9261-C7C2CAB4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DB410C-BA2A-4F6A-B2A2-1C8913DF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2006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完成、恢复与观测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497E7E-28B0-4E8E-935C-1C6EDC11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29225"/>
            <a:ext cx="500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termination · judge · reporter · rollback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AF8B1A-D271-4AE3-AF25-9C13F74F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22922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AUDIT/RECOVER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1AB0A0-278F-4547-B220-91D4BC80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3A3A3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* 只有在覆盖特定 sink、不可绕过且失败默认拒绝时成立</a:t>
            </a:r>
          </a:p>
        </p:txBody>
      </p:sp>
    </p:spTree>
    <p:extLst>
      <p:ext uri="{BB962C8B-B14F-4D97-AF65-F5344CB8AC3E}">
        <p14:creationId xmlns:p14="http://schemas.microsoft.com/office/powerpoint/2010/main" val="20914094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9E371F-103E-4BFE-9067-090304E7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跨仓比较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A6A52D-8E1D-44F6-AEF1-23AE710F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1278AF-247D-41A0-9A42-F4372A65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02762C-174D-43B9-A2F8-111C5B61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五个仓库各有强项，最强可证明性质仍然是局部的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D0B62-7B71-431B-AEEB-5F799347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仓库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9A836-EAD0-4315-B7A8-D2961F0C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直接关注点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1F85A-D621-44B2-8894-8404BBFF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733550"/>
            <a:ext cx="309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最强局部性质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C6505-6DD1-4090-AEB2-F342CCB3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73355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主要边界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FB02F-F77A-40E1-B087-881CC997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974B8A-DB80-4E91-A4F1-9A4CCECA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7F7F2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AutoGen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FF8E18-E6C1-4F0C-93F1-73CF7029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860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可组合 runtime 原语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FCF122-E9DB-43BA-AF3A-2E643084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2860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配置回调时可阻止代码执行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B06923-4E56-4194-A242-8481E018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286000"/>
            <a:ext cx="242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默认无审批；可直调 executor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DD786-0764-4873-A185-56556B52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BA0AC3-D46D-4F42-8707-4B63AEB7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527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7F7F2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D7F6B1-A71C-40D3-AF31-94E7FA58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718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本地工具 policy 与审批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B8F5A3-5A8F-40A7-BEB5-E1A3C200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9718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拒绝/异常不进入 local execute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AD1E3F-55E4-4B3D-A1BC-CCC9271E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971800"/>
            <a:ext cx="242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provider、MCP、绝对路径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A90E8F-F3C3-4093-ABDD-705AB65A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A428B6-8077-4759-8DF8-8CF07F69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7F7F2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MetaGPT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FD89F8-F185-4E8B-B54F-58C1D298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576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SOP、结构化产物与评审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C6B968-21DF-4B28-B9CA-E453D3C4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6576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Plan 状态与局部 lint rollback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0F191B-979E-4DD6-925C-8A9E98EB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657600"/>
            <a:ext cx="242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评估常不支配真实 sink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8C8558-7DEB-4ECD-88AC-B141D044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935EC5-EB7B-43FB-9650-7D918178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7F7F2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OpenHands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6718CE-EA40-482B-800D-A3150B09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434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Canvas 控制协议与子会话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7801EE-0C0F-4A6B-84B5-13CC9EF3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3434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typed confirmation / isolation 请求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703FAB-222C-4BB0-BE2F-D43CD724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343400"/>
            <a:ext cx="242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真正执行在外部 SDK/server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BDBBBF-7B2E-4C4D-816F-477AFF4B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268C02-8E22-4754-9721-73D1191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01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7F7F2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browser-use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444410-405B-4B9B-AB32-49B93285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292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浏览器与文件专用控制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6D5ECC-892D-44A5-9590-A6714C5B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0292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7F7F2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导航、上传下载的确定性边界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D8F8FF-F5C1-4C79-B987-80C663A5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5029200"/>
            <a:ext cx="242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默认宽松；自定义 action 旁路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6363C1-4BA1-40E8-9D73-E64B73E0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870229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6DC1CF-56EC-41BB-BDC0-433BA96B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局部强制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30E03B-C36C-4BCC-AEF0-8D3E01E5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9AB15A-6C51-444C-BA62-5782545F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5041F9-C705-478B-B25E-1A04094B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真正接近“强制”的，是紧邻副作用的局部 gate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52E7F-01E3-419A-84B1-58B05A63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7F7F2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AutoGen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33BF6F-8C52-4DC5-9425-55E3B14A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04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approval_func 已配置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710EEC-F240-4698-B447-C8C7F499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A3A3A3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4E9D4-7C2B-4C9C-9DD9-468004B9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304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7F7F2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拒绝 ⇒ 不调用 code executor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1895D7-13C8-45AC-A988-B5549AE4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仅 CodeExecutorAgent 路径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03055-6FC9-465A-B67E-53C43F07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00250"/>
            <a:ext cx="190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5381F0-D43B-4043-A880-CAE4F1B1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7F7F2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Cline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30DC43-6D13-4EBB-B63A-71AEFBA4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24150"/>
            <a:ext cx="304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local tool + autoApprove=false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368198-3313-4BE5-8244-58B4D9F1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A3A3A3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F3F97-EDA5-44DA-9C19-347EA259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38600"/>
            <a:ext cx="304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7F7F2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拒绝/异常 ⇒ 不调用 tool.execute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A430C-6B4C-43CA-A837-8320A1C1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4825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不覆盖 provider 执行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182E84-DB7B-4719-9A41-D86103F4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00250"/>
            <a:ext cx="190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1EA27C-E885-42B1-B3F5-6E9CB771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383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7F7F2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browser-use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0476B0-EFE9-4D4D-B608-4400C435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04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框架拥有的导航/文件 sink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E2521F-351C-4F5B-8FE8-C630C7BA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2900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A3A3A3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9BC7F0-DEA4-441F-9BC6-E296D629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38600"/>
            <a:ext cx="304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7F7F2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域、IP、路径检查 ⇒ 允许或阻断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0AD406-CEA7-4EAB-A84E-3692A844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04825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默认与 custom action 需单列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72B325-84A3-4BF5-8734-EC1190B1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209310-6249-40CF-A558-BA9C460F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24550"/>
            <a:ext cx="1043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50505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局部 Dom 成立 ≠ 所有副作用都满足用户指令</a:t>
            </a:r>
          </a:p>
        </p:txBody>
      </p:sp>
    </p:spTree>
    <p:extLst>
      <p:ext uri="{BB962C8B-B14F-4D97-AF65-F5344CB8AC3E}">
        <p14:creationId xmlns:p14="http://schemas.microsoft.com/office/powerpoint/2010/main" val="9224813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801508-F1C1-49FD-BE2B-A62E4448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失效边界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CC023B-86B4-43C8-BC0C-062EB112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72D73-BEC3-4E39-A66C-ACB9CBDF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332E0-B8DD-496F-B08D-8E7CC7CA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默认值、旁路与降级，决定了机制会不会真正生效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F414C-A5AB-48D8-A6E1-2FA61D11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默认关闭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7600DE-EC30-4049-81CB-F6AD22D9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3A3A3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OpenHands confirmation_mode 默认 false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FF2208-34FD-4942-BB11-A60C093A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453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AEC944-4754-49F9-8DE5-50DF0747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未列即放行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498FE-2436-4A2A-8699-8FACA726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3A3A3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Cline 未命中 policy 时默认 enabled / auto-approved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A3398-7355-4673-811E-56825A33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453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AAAC60-32A7-49F3-A964-09B8DF76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保存后弱化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FFFDD1-5DAB-4A78-B207-5BDEE68B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3A3A3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AutoGen approval callback 不可序列化恢复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937C7-D26A-45D7-9BA2-18FC1713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943100"/>
            <a:ext cx="1905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84A8DE-5245-40B9-BAF6-0A49EA01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评估不支配 sink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49ECD4-7AAE-4569-A032-4FCBEC52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336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3A3A3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MetaGPT is_pass=false 仍可能保存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43A59C-F74A-480D-B1F2-C143189D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05150"/>
            <a:ext cx="453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EC46B0-5313-43C3-894A-D332642B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956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后置不等于阻断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D9C506-3667-4E1F-BA68-99A44245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3A3A3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browser-use judge 不覆盖 agent success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A17644-5E8F-425B-AD33-8D4F3E4C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05300"/>
            <a:ext cx="453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739C1E-C2D1-40CF-BBA1-419B8594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95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隔离失败降级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857EB5-DE87-4A75-B866-67BEE543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3A3A3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OpenHands worktree 失败可退回 shared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C2C981-0A3C-45A3-80B5-7C8F5C05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D6D6CF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一个机制的名称很强，不代表它在默认配置和失败路径上仍然强。</a:t>
            </a:r>
          </a:p>
        </p:txBody>
      </p:sp>
    </p:spTree>
    <p:extLst>
      <p:ext uri="{BB962C8B-B14F-4D97-AF65-F5344CB8AC3E}">
        <p14:creationId xmlns:p14="http://schemas.microsoft.com/office/powerpoint/2010/main" val="19252715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096857-1361-4FF6-BB64-C5976DF2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证据复核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935C70-97F4-4BCD-A13F-FA9ED15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D40C91-6FC6-46AF-9B0F-0CD650BD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B1889-2792-42D5-93E4-9F48F518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证据复核改变了结论：有代码，不等于已经完全证明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36DEC1-B241-4A1B-BE9E-29B7E145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09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F7F7F2"/>
                </a:solidFill>
              </a:defRPr>
            </a:pPr>
            <a:r>
              <a:rPr sz="5700" b="1">
                <a:solidFill>
                  <a:srgbClr val="111111"/>
                </a:solidFill>
              </a:rPr>
              <a:t>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BD9366-4BB8-4894-84B5-227D7F87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3A3A3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机制逐项复核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7A72D-ED06-4DA5-806F-EEE5A4D6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09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F7F7F2"/>
                </a:solidFill>
              </a:defRPr>
            </a:pPr>
            <a:r>
              <a:rPr sz="5700" b="1">
                <a:solidFill>
                  <a:srgbClr val="111111"/>
                </a:solidFill>
              </a:rPr>
              <a:t>82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F02BCA-17D0-4677-82EE-466B4783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099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3A3A3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代码片段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C7A62E-4F8D-44CC-B4C2-5B0E1F94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76450"/>
            <a:ext cx="209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F7F7F2"/>
                </a:solidFill>
              </a:defRPr>
            </a:pPr>
            <a:r>
              <a:rPr sz="5700" b="1">
                <a:solidFill>
                  <a:srgbClr val="111111"/>
                </a:solidFill>
              </a:rPr>
              <a:t>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2037C-3AC4-4972-A34F-BB350270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099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3A3A3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处实质修正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999EC-87F8-459E-A580-262F42B7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FBE3C3-D158-4DC5-9EB9-575E969E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7F7F2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仍需降级表述的证据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EBA4F7-3375-4EFA-8996-12313416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7652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B7B8A0-393B-4EB0-8A74-A67FFAD9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86050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外部执行边界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5455C5-CD48-47FF-8009-81FD108E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0992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1F265B-6EAB-4B2B-B58E-7AF8FA99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19450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负命题与未发现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F7323E-C7F6-4831-A5BC-3DB95AF3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4332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4B6289-7657-4273-B8A6-E19C83C6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52850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缺少同强度专项测试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4DD5BF-9C3D-4FAF-BA41-090FFB51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7672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41973B-566B-4500-98FA-C606D20E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286250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6D6CF"/>
                </a:solidFill>
              </a:defRPr>
            </a:pPr>
            <a:r>
              <a:rPr sz="1350" b="0">
                <a:solidFill>
                  <a:srgbClr val="333333"/>
                </a:solidFill>
              </a:rPr>
              <a:t>静态证据不能替代行为评测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289FF7-89D7-4767-9131-7342D442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7F7F2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每个机制都有实现、裁决/入口、默认/旁路和测试或缺口说明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87AFDB-729C-443D-8031-ADA0FD2C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3A3A3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OpenHands server 与 Cline provider 等跨仓行为仍不能闭合。</a:t>
            </a:r>
          </a:p>
        </p:txBody>
      </p:sp>
    </p:spTree>
    <p:extLst>
      <p:ext uri="{BB962C8B-B14F-4D97-AF65-F5344CB8AC3E}">
        <p14:creationId xmlns:p14="http://schemas.microsoft.com/office/powerpoint/2010/main" val="12656791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57C69B-EA1A-498B-8500-9DD4DF8D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研究启示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68C40-7F90-44D3-B536-0FFB706E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2A3AA-3477-458D-8E51-E401E9D4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3721C-C80B-4E67-BC93-6FF975AF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Harness 评价重点应从“有机制”转向“能否完整调解”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12C87-75E1-4E4C-BA74-D57BDE4C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A3A3A3"/>
                </a:solidFill>
              </a:defRPr>
            </a:pPr>
            <a:r>
              <a:rPr sz="2250" b="0">
                <a:solidFill>
                  <a:srgbClr val="555555"/>
                </a:solidFill>
              </a:rPr>
              <a:t>Guarantee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F1877-0711-437B-B79C-082AC024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981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7F2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= Coverage ∧ Mandatory ∧ FailClosed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38452-440F-4B67-9BE3-090E982A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9C092C-1B9C-40DF-9F47-EE98FBBB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Coverage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FE6BC-326A-48E9-BC63-959317E1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覆盖目标副作用入口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797267-9ACB-446F-AA3F-B85E79B9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需覆盖真实副作用入口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C8668C-DE3E-4788-8311-317EB534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00500"/>
            <a:ext cx="190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549640-2343-47E7-B60E-B1865543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005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Mandatory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55C556-2B16-4533-8E4F-967440CE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所有路径都必须经过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F1048B-B489-4DD6-B991-134AD512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054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直接 API、provider、扩展不能旁路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F02206-26E5-489C-9CD0-46DA297B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00500"/>
            <a:ext cx="190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93B9D3-36B5-45D7-BF8A-2E63748E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005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7F7F2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FailClosed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512B27-BDFF-4947-909E-D66475BE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5529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6D6CF"/>
                </a:solidFill>
              </a:defRPr>
            </a:pPr>
            <a:r>
              <a:rPr sz="1500" b="0">
                <a:solidFill>
                  <a:srgbClr val="333333"/>
                </a:solidFill>
              </a:rPr>
              <a:t>故障时默认拒绝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E2CA11-8055-4F23-8C35-91DA8782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1054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3A3A3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解析、网络、恢复失败不能自动放行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0F5160-C223-480A-B666-AC05E43E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2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后续实验应直接对这三个条件构造反例。</a:t>
            </a:r>
          </a:p>
        </p:txBody>
      </p:sp>
    </p:spTree>
    <p:extLst>
      <p:ext uri="{BB962C8B-B14F-4D97-AF65-F5344CB8AC3E}">
        <p14:creationId xmlns:p14="http://schemas.microsoft.com/office/powerpoint/2010/main" val="16278511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F60FB-9BAA-4C01-A3FA-12E098CF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54CF1-7255-4704-9B52-F476712E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3A3A3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B0138-645C-4F41-B936-127AB255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3EF69-7ACB-4BA6-9B2E-D740DDDC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7F2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下一步：用可执行实验检验这些静态结论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5852BC-AD6C-4B35-B9ED-6A57FED2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A3A3A3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EXP-A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EA6E1-D8AA-434D-93F0-72B8A3CB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9050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7F7F2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默认与旁路矩阵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B4DD21-5F56-4A4A-B0B7-0827895C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43100"/>
            <a:ext cx="581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D6D6CF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逐项切换审批、provider、序列化与降级配置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F9CB2-9E21-44E3-AB58-75C8A4D7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EC8D44-C517-4507-9264-D845DA2C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A3A3A3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EXP-B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B75BFB-7E0E-43FC-96BC-E85653CF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718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7F7F2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同一意图、跨 sink 对照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946A6A-E257-42D2-B3E7-C9144216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09900"/>
            <a:ext cx="581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D6D6CF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比较工具调用、shell、文件、浏览器入口是否一致受控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D4E811-77FA-4091-BC1D-8F09DDF8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CDD4A9-F837-4901-9C61-E470C039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A3A3A3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EXP-C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C5583-960B-4CB5-9AC8-44EB492B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0386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7F7F2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跨仓边界集成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21CD33-629B-4391-AF13-ADC449F0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76700"/>
            <a:ext cx="581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D6D6CF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补查 OpenHands SDK/server 与外部 provider 的真实裁决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57F251-A56D-42C9-A9B5-60B4BF08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A4F009-EE13-480C-895D-EAD4B84F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50505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评价焦点：真实副作用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C7F747-0E14-4038-98F8-6A5D3D71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429250"/>
            <a:ext cx="600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050505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每个副作用由谁、何时、以何种失败语义裁决？</a:t>
            </a:r>
          </a:p>
        </p:txBody>
      </p:sp>
    </p:spTree>
    <p:extLst>
      <p:ext uri="{BB962C8B-B14F-4D97-AF65-F5344CB8AC3E}">
        <p14:creationId xmlns:p14="http://schemas.microsoft.com/office/powerpoint/2010/main" val="6349619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2026-09-02T06:08:15.9710000Z</dcterms:created>
  <dcterms:modified xsi:type="dcterms:W3CDTF">2026-09-02T06:08:15.9710000Z</dcterms:modified>
</coreProperties>
</file>