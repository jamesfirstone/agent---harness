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33d1e7d704908" /><Relationship Type="http://schemas.openxmlformats.org/officeDocument/2006/relationships/extended-properties" Target="/docProps/app.xml" Id="R99a80ab067034bbe" /><Relationship Type="http://schemas.openxmlformats.org/officeDocument/2006/relationships/officeDocument" Target="/ppt/presentation.xml" Id="R74b38c57e2a2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3af04f1cf44a8e"/>
  </p:sldMasterIdLst>
  <p:notesMasterIdLst>
    <p:notesMasterId xmlns:r="http://schemas.openxmlformats.org/officeDocument/2006/relationships" r:id="R062f4ffff9654098"/>
  </p:notesMasterIdLst>
  <p:sldIdLst>
    <p:sldId xmlns:r="http://schemas.openxmlformats.org/officeDocument/2006/relationships" id="256" r:id="Rfd73f869871d4a2f"/>
    <p:sldId xmlns:r="http://schemas.openxmlformats.org/officeDocument/2006/relationships" id="257" r:id="R3bfde5112aea45dd"/>
    <p:sldId xmlns:r="http://schemas.openxmlformats.org/officeDocument/2006/relationships" id="258" r:id="Raa78a3cd6c2e4f0e"/>
    <p:sldId xmlns:r="http://schemas.openxmlformats.org/officeDocument/2006/relationships" id="259" r:id="R6e378eb39f71433b"/>
    <p:sldId xmlns:r="http://schemas.openxmlformats.org/officeDocument/2006/relationships" id="260" r:id="Re0300d73f662437f"/>
    <p:sldId xmlns:r="http://schemas.openxmlformats.org/officeDocument/2006/relationships" id="261" r:id="R9cf35697d3454272"/>
    <p:sldId xmlns:r="http://schemas.openxmlformats.org/officeDocument/2006/relationships" id="262" r:id="R8f3a320e33554081"/>
    <p:sldId xmlns:r="http://schemas.openxmlformats.org/officeDocument/2006/relationships" id="263" r:id="R04110935f0874f33"/>
    <p:sldId xmlns:r="http://schemas.openxmlformats.org/officeDocument/2006/relationships" id="264" r:id="R38017197b73d4203"/>
    <p:sldId xmlns:r="http://schemas.openxmlformats.org/officeDocument/2006/relationships" id="265" r:id="R306ec32058c143d0"/>
    <p:sldId xmlns:r="http://schemas.openxmlformats.org/officeDocument/2006/relationships" id="266" r:id="R615f3df4f22941ff"/>
    <p:sldId xmlns:r="http://schemas.openxmlformats.org/officeDocument/2006/relationships" id="267" r:id="R8928e84c7b904264"/>
    <p:sldId xmlns:r="http://schemas.openxmlformats.org/officeDocument/2006/relationships" id="268" r:id="Rda366292f5494ed1"/>
    <p:sldId xmlns:r="http://schemas.openxmlformats.org/officeDocument/2006/relationships" id="269" r:id="R23e6c3dea26049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2f3135696f49b3" /><Relationship Type="http://schemas.openxmlformats.org/officeDocument/2006/relationships/slideMaster" Target="/ppt/slideMasters/slideMaster1.xml" Id="Ra23af04f1cf44a8e" /><Relationship Type="http://schemas.openxmlformats.org/officeDocument/2006/relationships/notesMaster" Target="/ppt/notesMasters/notesMaster1.xml" Id="R062f4ffff9654098" /><Relationship Type="http://schemas.openxmlformats.org/officeDocument/2006/relationships/presProps" Target="/ppt/presProps.xml" Id="R248361f03c744b5a" /><Relationship Type="http://schemas.openxmlformats.org/officeDocument/2006/relationships/tableStyles" Target="/ppt/tableStyles.xml" Id="R4a07abda75c84244" /><Relationship Type="http://schemas.openxmlformats.org/officeDocument/2006/relationships/slide" Target="/ppt/slides/slide1.xml" Id="Rfd73f869871d4a2f" /><Relationship Type="http://schemas.openxmlformats.org/officeDocument/2006/relationships/slide" Target="/ppt/slides/slide2.xml" Id="R3bfde5112aea45dd" /><Relationship Type="http://schemas.openxmlformats.org/officeDocument/2006/relationships/slide" Target="/ppt/slides/slide3.xml" Id="Raa78a3cd6c2e4f0e" /><Relationship Type="http://schemas.openxmlformats.org/officeDocument/2006/relationships/slide" Target="/ppt/slides/slide4.xml" Id="R6e378eb39f71433b" /><Relationship Type="http://schemas.openxmlformats.org/officeDocument/2006/relationships/slide" Target="/ppt/slides/slide5.xml" Id="Re0300d73f662437f" /><Relationship Type="http://schemas.openxmlformats.org/officeDocument/2006/relationships/slide" Target="/ppt/slides/slide6.xml" Id="R9cf35697d3454272" /><Relationship Type="http://schemas.openxmlformats.org/officeDocument/2006/relationships/slide" Target="/ppt/slides/slide7.xml" Id="R8f3a320e33554081" /><Relationship Type="http://schemas.openxmlformats.org/officeDocument/2006/relationships/slide" Target="/ppt/slides/slide8.xml" Id="R04110935f0874f33" /><Relationship Type="http://schemas.openxmlformats.org/officeDocument/2006/relationships/slide" Target="/ppt/slides/slide9.xml" Id="R38017197b73d4203" /><Relationship Type="http://schemas.openxmlformats.org/officeDocument/2006/relationships/slide" Target="/ppt/slides/slide10.xml" Id="R306ec32058c143d0" /><Relationship Type="http://schemas.openxmlformats.org/officeDocument/2006/relationships/slide" Target="/ppt/slides/slide11.xml" Id="R615f3df4f22941ff" /><Relationship Type="http://schemas.openxmlformats.org/officeDocument/2006/relationships/slide" Target="/ppt/slides/slide12.xml" Id="R8928e84c7b904264" /><Relationship Type="http://schemas.openxmlformats.org/officeDocument/2006/relationships/slide" Target="/ppt/slides/slide13.xml" Id="Rda366292f5494ed1" /><Relationship Type="http://schemas.openxmlformats.org/officeDocument/2006/relationships/slide" Target="/ppt/slides/slide14.xml" Id="R23e6c3dea26049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e7b9e17814a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b76c4e74984e2b" /><Relationship Type="http://schemas.openxmlformats.org/officeDocument/2006/relationships/notesMaster" Target="/ppt/notesMasters/notesMaster1.xml" Id="Rd82a12c594ff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daa70b1a984f25" /><Relationship Type="http://schemas.openxmlformats.org/officeDocument/2006/relationships/notesMaster" Target="/ppt/notesMasters/notesMaster1.xml" Id="R0bad3eb7b3ca4d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f005e26a34c48" /><Relationship Type="http://schemas.openxmlformats.org/officeDocument/2006/relationships/notesMaster" Target="/ppt/notesMasters/notesMaster1.xml" Id="Rf205767e57c04e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8cde9ccb8b40ee" /><Relationship Type="http://schemas.openxmlformats.org/officeDocument/2006/relationships/notesMaster" Target="/ppt/notesMasters/notesMaster1.xml" Id="R938d9f9e0e044c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5099d9b0af4522" /><Relationship Type="http://schemas.openxmlformats.org/officeDocument/2006/relationships/notesMaster" Target="/ppt/notesMasters/notesMaster1.xml" Id="R7322fb2acfff45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1f2c364dd456a" /><Relationship Type="http://schemas.openxmlformats.org/officeDocument/2006/relationships/notesMaster" Target="/ppt/notesMasters/notesMaster1.xml" Id="R8c3c13d2262444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2135857aba4dcf" /><Relationship Type="http://schemas.openxmlformats.org/officeDocument/2006/relationships/notesMaster" Target="/ppt/notesMasters/notesMaster1.xml" Id="Rbe2be02105e34a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ec5d931ce4a8f" /><Relationship Type="http://schemas.openxmlformats.org/officeDocument/2006/relationships/notesMaster" Target="/ppt/notesMasters/notesMaster1.xml" Id="Rd90b9e483b884d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e7ad5b996a420b" /><Relationship Type="http://schemas.openxmlformats.org/officeDocument/2006/relationships/notesMaster" Target="/ppt/notesMasters/notesMaster1.xml" Id="Rb49c3d2c9cf14b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d2dd7d4d5e4026" /><Relationship Type="http://schemas.openxmlformats.org/officeDocument/2006/relationships/notesMaster" Target="/ppt/notesMasters/notesMaster1.xml" Id="R35838c6fb23842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e0ea7c73fe4854" /><Relationship Type="http://schemas.openxmlformats.org/officeDocument/2006/relationships/notesMaster" Target="/ppt/notesMasters/notesMaster1.xml" Id="Rd02557614d6943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c35d4365364d76" /><Relationship Type="http://schemas.openxmlformats.org/officeDocument/2006/relationships/notesMaster" Target="/ppt/notesMasters/notesMaster1.xml" Id="R581218b1e0f447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a2ab8c972b414d" /><Relationship Type="http://schemas.openxmlformats.org/officeDocument/2006/relationships/notesMaster" Target="/ppt/notesMasters/notesMaster1.xml" Id="R67fd2154358e47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391553235645a2" /><Relationship Type="http://schemas.openxmlformats.org/officeDocument/2006/relationships/notesMaster" Target="/ppt/notesMasters/notesMaster1.xml" Id="R58f70e9e850843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本页用于界定汇报范围。标题中的“从相关工作到代码级证据”表示研究重点已经从文献与概念背景推进到固定提交、可定位代码路径和可运行实验夹具。</a:t>
            </a:r>
          </a:p>
          <a:p xmlns:a="http://schemas.openxmlformats.org/drawingml/2006/main">
            <a:r>
              <a:t>右侧控制链包含四个位置。Policy / Specification 把指令、规则、schema 或 capability 转成可计算约束；Verdict Owner 指 policy engine、dispatcher、middleware、OS hook 或 composer 中拥有最终裁决的代码；Unified Gate 把裁决接入统一执行入口；Action Sink 是真正产生文件、网络、进程、工具或最终输出副作用的位置。</a:t>
            </a:r>
          </a:p>
          <a:p xmlns:a="http://schemas.openxmlformats.org/drawingml/2006/main">
            <a:r>
              <a:t>21 + 2 中，21 表示当前审计到的运行时或决策层实现单元，2 表示 AgentDojo 与 HarnessAudit 两个检测或后置验收对象。58 表示报告 12 中设计的实验用例数量。它们分别描述实现审计与实验协议，不能合并为完整 harness 的数量。</a:t>
            </a:r>
          </a:p>
          <a:p xmlns:a="http://schemas.openxmlformats.org/drawingml/2006/main">
            <a:r>
              <a:t>本研究的核心问题是：代码中的规则能否改变真实执行路径，尤其能否在 action sink 之前拒绝、暂停、隔离或恢复动作。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</a:t>
            </a:r>
          </a:p>
          <a:p xmlns:a="http://schemas.openxmlformats.org/drawingml/2006/main">
            <a:r>
              <a:t>- reports/12_RQ1_机制总结与完整实验用例设计.md</a:t>
            </a:r>
          </a:p>
          <a:p xmlns:a="http://schemas.openxmlformats.org/drawingml/2006/main">
            <a:r>
              <a:t>- reports/13_当前Short_Chain_Compliance_Demo总结.md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本页说明研究视角的三次收敛。第一阶段是文献与问题基线，旧 PPT 提供 AgentIF、结构化输出、ActPlane、测试实践和 Harness 概念，并提出研究对象与 RQ1。</a:t>
            </a:r>
          </a:p>
          <a:p xmlns:a="http://schemas.openxmlformats.org/drawingml/2006/main">
            <a:r>
              <a:t>第二阶段是固定提交代码审计。审计逐项定位 entrypoint、verdict owner、action sink、默认值、异常分支、审批绑定和旁路，由此形成 21 + 2 主矩阵。</a:t>
            </a:r>
          </a:p>
          <a:p xmlns:a="http://schemas.openxmlformats.org/drawingml/2006/main">
            <a:r>
              <a:t>第三阶段是可验证实验路径。当前工作把实现编码到 L1–L8 生命周期、7 类保证形式和 8 种组合结构，并设计 58 个实验用例；Short Chain Demo 把 detector、verdict、gateway 与模拟 sink 连接起来。</a:t>
            </a:r>
          </a:p>
          <a:p xmlns:a="http://schemas.openxmlformats.org/drawingml/2006/main">
            <a:r>
              <a:t>旧 PPT 第 23 页的 10/7/7/6…属于探索阶段计数。当时缺少统一分母、去重规则和证据等级，因此这些数字只保留为研究历史，不进入当前分布结论。</a:t>
            </a:r>
          </a:p>
          <a:p xmlns:a="http://schemas.openxmlformats.org/drawingml/2006/main">
            <a:r>
              <a:t>本页的含义是：研究问题没有变化，证据单位已经从机制名称推进到固定代码路径、执行所有者和可判定实验。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sources/related_work_pptx.md (Slides 20–23)</a:t>
            </a:r>
          </a:p>
          <a:p xmlns:a="http://schemas.openxmlformats.org/drawingml/2006/main">
            <a:r>
              <a:t>- reports/11_RQ1_Harness指令遵从性机制详述.md (摘要、§2.3、§13)</a:t>
            </a:r>
          </a:p>
          <a:p xmlns:a="http://schemas.openxmlformats.org/drawingml/2006/main">
            <a:r>
              <a:t>- reports/12_RQ1_机制总结与完整实验用例设计.md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 Harness 的操作化定义。Harness 是围绕 Agent 执行过程部署的控制基础设施，代码至少需要完成读取运行态信息、产生可执行语义、影响可达副作用路径这三件事。</a:t>
            </a:r>
          </a:p>
          <a:p xmlns:a="http://schemas.openxmlformats.org/drawingml/2006/main">
            <a:r>
              <a:t>L1–L8 表示 Agent 周期：L1 指令或意图规范化；L2 规划与工具选择；L3 执行前验证；L4 审批或 HITL；L5 dispatch 与真实执行；L6 postcondition 与结果验证；L7 恢复或 replan；L8 审计与 provenance。</a:t>
            </a:r>
          </a:p>
          <a:p xmlns:a="http://schemas.openxmlformats.org/drawingml/2006/main">
            <a:r>
              <a:t>HARNESS LAYERS 一行列出常见控制层：policy、schema、capability、approval、gate、sandbox、postcondition、recovery 和 audit。不同项目可能由一个 runtime 组合多层，也可能只提供其中一个组件。</a:t>
            </a:r>
          </a:p>
          <a:p xmlns:a="http://schemas.openxmlformats.org/drawingml/2006/main">
            <a:r>
              <a:t>底部三项是纳入判据。读取运行态说明机制进入真实执行上下文；产生可执行语义说明代码会验证、变换、暂停、拒绝、隔离、恢复或审计；支配受控路径说明 verdict 被 dispatcher 或 sink 消费。</a:t>
            </a:r>
          </a:p>
          <a:p xmlns:a="http://schemas.openxmlformats.org/drawingml/2006/main">
            <a:r>
              <a:t>例如 ActPlane 的 LSM hook 可以在文件权限检查处拒绝；MCP PEP 只有在 ALLOW 时调用工具。单独产生 finding 或 score 的 detector，如果调用方继续执行，只能提供检测证据。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 (§2.1, §13.1, §13.3)</a:t>
            </a:r>
          </a:p>
          <a:p xmlns:a="http://schemas.openxmlformats.org/drawingml/2006/main">
            <a:r>
              <a:t>- reports/12_RQ1_机制总结与完整实验用例设计.md (§2.1)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本页区分四个分母。21 是运行时或决策层实现单元；2 是 AgentDojo 与 HarnessAudit 两个检测或后置验收对象；18 是补充仓库 manifest 的材料条目，其中 15 个 complete、3 个 partial；58 是实验用例总量，覆盖 SPEC、CONS、DETECT、AUTH、REC、MED、VERIFY 和 COMPOSE。</a:t>
            </a:r>
          </a:p>
          <a:p xmlns:a="http://schemas.openxmlformats.org/drawingml/2006/main">
            <a:r>
              <a:t>E0–E4 描述本轮实际取得的证据强度。E0 是未核验或只有声称；E1 是固定提交中的源码锚点；E2 是测试或局部本地行为；E3 是行为测量、对照或消融；E4 是独立复现或生产证据。</a:t>
            </a:r>
          </a:p>
          <a:p xmlns:a="http://schemas.openxmlformats.org/drawingml/2006/main">
            <a:r>
              <a:t>当前 E4 = 0，表示已检查样本中没有取得独立复现或生产证据。这个结论支持代码机制与局部行为审计，不能外推为开源生态完全缺少 E4，也不能据此给出生产级安全排名。</a:t>
            </a:r>
          </a:p>
          <a:p xmlns:a="http://schemas.openxmlformats.org/drawingml/2006/main">
            <a:r>
              <a:t>本地验证账本需要拆开解释。Enterprise 核心 guardrail 23/23 表示核心路径通过；全量 25/34 表示仍有 9 项未通过。MCP PEP 39/42 包含 1 个失败与 2 个环境错误：两个错误与 Windows symlink 权限相关，失败来自 POSIX 路径假设。</a:t>
            </a:r>
          </a:p>
          <a:p xmlns:a="http://schemas.openxmlformats.org/drawingml/2006/main">
            <a:r>
              <a:t>因此，本页的重点是保持分母与证据等级可追溯，避免把代码存在、测试存在、局部通过和生产保证混为一个结论。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 (§2.2, §2.3, §11)</a:t>
            </a:r>
          </a:p>
          <a:p xmlns:a="http://schemas.openxmlformats.org/drawingml/2006/main">
            <a:r>
              <a:t>- reports/12_RQ1_机制总结与完整实验用例设计.md</a:t>
            </a:r>
          </a:p>
          <a:p xmlns:a="http://schemas.openxmlformats.org/drawingml/2006/main">
            <a:r>
              <a:t>- repos/supplement/manifest.json</a:t>
            </a:r>
          </a:p>
          <a:p xmlns:a="http://schemas.openxmlformats.org/drawingml/2006/main">
            <a:r>
              <a:t>- sources/supplement/local_test_results.md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本页解释 21 个实现单元在部署结构上的分组。I 组 5 个，包含 ActPlane、Governance Toolkit、Enterprise Harness、OpenAI Agents 和 NeMo Guardrails，更接近在线执行、dispatcher、OS hook、rail 或代码拥有的最终输出恢复。</a:t>
            </a:r>
          </a:p>
          <a:p xmlns:a="http://schemas.openxmlformats.org/drawingml/2006/main">
            <a:r>
              <a:t>P 组 8 个，主要表达 policy、provenance、capability、IFC、router、PEP 或 adapter；S 组 8 个，主要提供 SDK middleware、审批状态、validator、scanner 或策略信号。</a:t>
            </a:r>
          </a:p>
          <a:p xmlns:a="http://schemas.openxmlformats.org/drawingml/2006/main">
            <a:r>
              <a:t>D 组 2 个是 AgentDojo 与 HarnessAudit，重点在 runtime checker、completion、trace 和 action sink 验收。D 组单列，所以 5 + 8 + 8 = 21，D 组的 2 个对象不加入在线执行分母。</a:t>
            </a:r>
          </a:p>
          <a:p xmlns:a="http://schemas.openxmlformats.org/drawingml/2006/main">
            <a:r>
              <a:t>四组的核心差异是裁决所有权。I 组更接近真实执行或最终返回；P 组更接近能力和来源控制；S 组更容易接入 Agent loop，但 verdict 常需要宿主消费；D 组主要补充事后检测和轨迹证据。</a:t>
            </a:r>
          </a:p>
          <a:p xmlns:a="http://schemas.openxmlformats.org/drawingml/2006/main">
            <a:r>
              <a:t>分组用于描述代码接线位置和部署形态，不表示项目安全等级。当前样本中组件型实现数量高于系统级副作用控制。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(§4.1)</a:t>
            </a:r>
          </a:p>
          <a:p xmlns:a="http://schemas.openxmlformats.org/drawingml/2006/main">
            <a:r>
              <a:t>- reports/11_RQ1_Harness指令遵从性机制详述.md (§3, §8.1)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本页展示八个生命周期阶段的代表性覆盖。所有计数都是多标签，同一个实现可以同时出现在多个阶段，数字不能相加。L3 的 16 个代表数最高；L5、L7、L8 分别为 6、6、7，说明真实执行、恢复和审计环节相对稀疏。</a:t>
            </a:r>
          </a:p>
          <a:p xmlns:a="http://schemas.openxmlformats.org/drawingml/2006/main">
            <a:r>
              <a:t>L1 指令/意图规范化，共 8 个代表实现。证据一：Enterprise Harness（e8e60fb）的 server/index.mjs:1020-1164 与 server/guardrail.mjs:30-55 检查 contract/schema，并在失败后进入确定性输出处理。证据二：AgentSpec（e6fa390）的 controlled_agent_excector.py:82-99,164 与 enforcement.py:31-85 将 trigger–predicate–enforcement 规则转成 continue、skip、stop 或 self-reflect 状态。</a:t>
            </a:r>
          </a:p>
          <a:p xmlns:a="http://schemas.openxmlformats.org/drawingml/2006/main">
            <a:r>
              <a:t>L2 规划/工具选择，共 6 个。证据一：CaMeL（f083b6b）的 src/camel/security_policy.py:58-110 与 interpreter/interpreter.py:2048-2065 在受控解释器中传播策略与来源信息。证据二：ToolSafe（46358fa）的 sec_react_agent.py:73-124 与 react_firewall_agent.py:70-103 在 step-level 规划阶段判断动作对齐，并在风险时停止或反馈重规划。</a:t>
            </a:r>
          </a:p>
          <a:p xmlns:a="http://schemas.openxmlformats.org/drawingml/2006/main">
            <a:r>
              <a:t>L3 执行前验证，共 16 个。证据一：Governance Toolkit（81955d4）的 policy.ts:450-551 在工具调用前求值 policy，无匹配时默认 deny。证据二：MCP PEP（3dd9690）的 prototype/pep/enforcer.py:103-163 先求值、记录审计，再只让 ALLOW 进入 execute_allowed。</a:t>
            </a:r>
          </a:p>
          <a:p xmlns:a="http://schemas.openxmlformats.org/drawingml/2006/main">
            <a:r>
              <a:t>L4 审批/HITL，共 9 个。证据一：OpenAI Agents（5250cb8）的 tool_execution.py:1162-1230 构造 approval item，解析 approved、rejected 或 pending 状态，并在 pending 时中断工具调用。证据二：Microsoft Agent Framework（435201b）的 _harness/_tool_approval.py:343,355-640 保存 pending、approved、denied 状态并支持 resume。两条路径都要求宿主正确保存与绑定审批状态。</a:t>
            </a:r>
          </a:p>
          <a:p xmlns:a="http://schemas.openxmlformats.org/drawingml/2006/main">
            <a:r>
              <a:t>L5 dispatch/真实执行，共 6 个。证据一：ActPlane（47cd96c）的 process.bpf.c:2368-2378 挂载 LSM file_permission 与 file_truncate hook，并以 TE_MODE_BLOCK 处理文件副作用。证据二：Tool Forge（07947e9）的 tool_router.py:423-572 与 container_sandbox.py:13-50 将 session allowlist、路由和容器隔离接到执行入口。</a:t>
            </a:r>
          </a:p>
          <a:p xmlns:a="http://schemas.openxmlformats.org/drawingml/2006/main">
            <a:r>
              <a:t>L6 postcondition/结果验证，共 7 个。证据一：NeMo（1c657ca）的 rails_manager.py:327-429 与 tool_call_action.py:38-59 在工具调用和工具结果阶段运行 rail。证据二：HarnessAudit（6317162）的 multi_agent/checker.py:116-137,172-178、completion_checks.py:85-105 与 frameworks/core/action_sink.py:50-143 检查轨迹、完成条件和 sink 证据；这类 checker 主要提供后置验收，通常不能撤销已经发生的副作用。</a:t>
            </a:r>
          </a:p>
          <a:p xmlns:a="http://schemas.openxmlformats.org/drawingml/2006/main">
            <a:r>
              <a:t>L7 恢复/replan，共 6 个。证据一：Enterprise Harness（e8e60fb）的 server/index.mjs:1137-1164 与 server/guardrail.mjs:30-55 在验证失败后由 deterministic composer 接管最终输出。证据二：Guardrails AI（c472d55）的 guard.py:86,252-272,485-510 提供 reask、fix、filter、refrain 或 exception；恢复是否安全，还要检查新动作是否重新进入 policy、approval、gate 与 audit。</a:t>
            </a:r>
          </a:p>
          <a:p xmlns:a="http://schemas.openxmlformats.org/drawingml/2006/main">
            <a:r>
              <a:t>L8 审计/provenance，共 7 个。证据一：Governance Toolkit（81955d4）的 audit.ts:14-95 记录 policy、审批、执行和结果事件。证据二：MCP PEP（3dd9690）的 prototype/audit/logger.py:68-172 写入可关联的哈希审计。审计存在仍不等于旁路可见或日志尾部完整。</a:t>
            </a:r>
          </a:p>
          <a:p xmlns:a="http://schemas.openxmlformats.org/drawingml/2006/main">
            <a:r>
              <a:t>这些证据证明各阶段已经存在代码机制；下一步仍需验证完整入口覆盖、默认与异常语义、审批绑定、恢复重入和审计完整性。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(§3, §4.2)</a:t>
            </a:r>
          </a:p>
          <a:p xmlns:a="http://schemas.openxmlformats.org/drawingml/2006/main">
            <a:r>
              <a:t>- reports/11_RQ1_Harness指令遵从性机制详述.md (§3.1, §4–§6, §8.2)</a:t>
            </a:r>
          </a:p>
          <a:p xmlns:a="http://schemas.openxmlformats.org/drawingml/2006/main">
            <a:r>
              <a:t>- repos/enterprise-llm-agent-harness/server/index.mjs:1020-1164</a:t>
            </a:r>
          </a:p>
          <a:p xmlns:a="http://schemas.openxmlformats.org/drawingml/2006/main">
            <a:r>
              <a:t>- repos/enterprise-llm-agent-harness/server/guardrail.mjs:30-55</a:t>
            </a:r>
          </a:p>
          <a:p xmlns:a="http://schemas.openxmlformats.org/drawingml/2006/main">
            <a:r>
              <a:t>- repos/supplement/agentspec/src/controlled_agent_excector.py:82-99,164</a:t>
            </a:r>
          </a:p>
          <a:p xmlns:a="http://schemas.openxmlformats.org/drawingml/2006/main">
            <a:r>
              <a:t>- repos/supplement/agentspec/src/enforcement.py:31-85</a:t>
            </a:r>
          </a:p>
          <a:p xmlns:a="http://schemas.openxmlformats.org/drawingml/2006/main">
            <a:r>
              <a:t>- repos/supplement/camel-prompt-injection/src/camel/security_policy.py:58-110</a:t>
            </a:r>
          </a:p>
          <a:p xmlns:a="http://schemas.openxmlformats.org/drawingml/2006/main">
            <a:r>
              <a:t>- repos/supplement/camel-prompt-injection/src/camel/interpreter/interpreter.py:2048-2065</a:t>
            </a:r>
          </a:p>
          <a:p xmlns:a="http://schemas.openxmlformats.org/drawingml/2006/main">
            <a:r>
              <a:t>- repos/supplement/toolsafe/src/agent/sec_react_agent.py:73-124</a:t>
            </a:r>
          </a:p>
          <a:p xmlns:a="http://schemas.openxmlformats.org/drawingml/2006/main">
            <a:r>
              <a:t>- repos/supplement/toolsafe/src/agent/react_firewall_agent.py:70-103</a:t>
            </a:r>
          </a:p>
          <a:p xmlns:a="http://schemas.openxmlformats.org/drawingml/2006/main">
            <a:r>
              <a:t>- repos/agent-governance-toolkit/agent-governance-typescript/src/policy.ts:450-551</a:t>
            </a:r>
          </a:p>
          <a:p xmlns:a="http://schemas.openxmlformats.org/drawingml/2006/main">
            <a:r>
              <a:t>- repos/supplement/mcp-pep-agent-security/prototype/pep/enforcer.py:103-163</a:t>
            </a:r>
          </a:p>
          <a:p xmlns:a="http://schemas.openxmlformats.org/drawingml/2006/main">
            <a:r>
              <a:t>- repos/openai-agents-python/src/agents/run_internal/tool_execution.py:1162-1230</a:t>
            </a:r>
          </a:p>
          <a:p xmlns:a="http://schemas.openxmlformats.org/drawingml/2006/main">
            <a:r>
              <a:t>- repos/supplement/microsoft-agent-framework/python/packages/core/agent_framework/_harness/_tool_approval.py:343,355-640</a:t>
            </a:r>
          </a:p>
          <a:p xmlns:a="http://schemas.openxmlformats.org/drawingml/2006/main">
            <a:r>
              <a:t>- repos/actplane/bpf/process.bpf.c:2368-2378</a:t>
            </a:r>
          </a:p>
          <a:p xmlns:a="http://schemas.openxmlformats.org/drawingml/2006/main">
            <a:r>
              <a:t>- repos/supplement/tool-forge/tool_generator/tool_router.py:423-572</a:t>
            </a:r>
          </a:p>
          <a:p xmlns:a="http://schemas.openxmlformats.org/drawingml/2006/main">
            <a:r>
              <a:t>- repos/supplement/tool-forge/tool_generator/container_sandbox.py:13-50</a:t>
            </a:r>
          </a:p>
          <a:p xmlns:a="http://schemas.openxmlformats.org/drawingml/2006/main">
            <a:r>
              <a:t>- repos/nemo-guardrails/nemoguardrails/guardrails/rails_manager.py:327-429</a:t>
            </a:r>
          </a:p>
          <a:p xmlns:a="http://schemas.openxmlformats.org/drawingml/2006/main">
            <a:r>
              <a:t>- repos/nemo-guardrails/nemoguardrails/guardrails/actions/tool_call_action.py:38-59</a:t>
            </a:r>
          </a:p>
          <a:p xmlns:a="http://schemas.openxmlformats.org/drawingml/2006/main">
            <a:r>
              <a:t>- repos/supplement/harnessaudit/multi_agent/checker.py</a:t>
            </a:r>
          </a:p>
          <a:p xmlns:a="http://schemas.openxmlformats.org/drawingml/2006/main">
            <a:r>
              <a:t>- repos/supplement/harnessaudit/multi_agent/completion_checks.py</a:t>
            </a:r>
          </a:p>
          <a:p xmlns:a="http://schemas.openxmlformats.org/drawingml/2006/main">
            <a:r>
              <a:t>- repos/supplement/harnessaudit/multi_agent/frameworks/core/action_sink.py</a:t>
            </a:r>
          </a:p>
          <a:p xmlns:a="http://schemas.openxmlformats.org/drawingml/2006/main">
            <a:r>
              <a:t>- repos/supplement/guardrails-ai/guardrails/guard.py:86,252-272,485-510</a:t>
            </a:r>
          </a:p>
          <a:p xmlns:a="http://schemas.openxmlformats.org/drawingml/2006/main">
            <a:r>
              <a:t>- repos/agent-governance-toolkit/agent-governance-typescript/src/audit.ts:14-95</a:t>
            </a:r>
          </a:p>
          <a:p xmlns:a="http://schemas.openxmlformats.org/drawingml/2006/main">
            <a:r>
              <a:t>- repos/supplement/mcp-pep-agent-security/prototype/audit/logger.py:68-172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本页说明保证形式如何影响结论强度。七个数字都采用多标签编码，一条实现可以同时 hard block、审批暂停、隔离并记录审计。</a:t>
            </a:r>
          </a:p>
          <a:p xmlns:a="http://schemas.openxmlformats.org/drawingml/2006/main">
            <a:r>
              <a:t>Conditional continuation = 12，表示代码根据配置、规则、no-match 或异常分支决定是否继续，真实效果高度依赖默认值。Pause / approval = 9，表示动作进入 pending，批准后恢复；暂停成立还需要可信状态与精确绑定。Hard block = 5，表示裁决在副作用前直接拒绝受控动作。</a:t>
            </a:r>
          </a:p>
          <a:p xmlns:a="http://schemas.openxmlformats.org/drawingml/2006/main">
            <a:r>
              <a:t>Semantic / IFC confinement = 4，通过来源、标签或 capability 限制数据流与控制流，最终 gate 必须消费这些标签。Post-hoc detection = 4，动作或结果产生后发现违规，主要提供检测证据。Soft feedback / replan = 3，将风险反馈给模型或重新生成计划，新动作仍需重新过 gate。OS / container isolation = 2，通过系统 hook 或容器限制能力，对覆盖到的 sink 较强。</a:t>
            </a:r>
          </a:p>
          <a:p xmlns:a="http://schemas.openxmlformats.org/drawingml/2006/main">
            <a:r>
              <a:t>右侧四层解释执行强度。副作用点或统一 gate 可以直接改变受控 sink；审批或 pause state 在正确接线和绑定后暂停执行；validator 或 scanner 需要 caller 把结果转换成 gate 状态；oracle 或 score 主要提供事后发现与反馈。</a:t>
            </a:r>
          </a:p>
          <a:p xmlns:a="http://schemas.openxmlformats.org/drawingml/2006/main">
            <a:r>
              <a:t>本页的结论是：机制名称不能直接代表保证强度，必须同时查看 verdict 的所有者、消费位置、默认分支、异常路径和旁路覆盖。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(§4.3, §4.4)</a:t>
            </a:r>
          </a:p>
          <a:p xmlns:a="http://schemas.openxmlformats.org/drawingml/2006/main">
            <a:r>
              <a:t>- reports/11_RQ1_Harness指令遵从性机制详述.md (§7, §8.3)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 ActPlane 代码展示系统级执行所有权。readonly.yaml 中的规则限制 Agent 写入工作区并连接网络；BPF LSM hook 在 file_permission 与 file_truncate 处调用 te_handle_file_permission，并以 TE_MODE_BLOCK 处理文件副作用。</a:t>
            </a:r>
          </a:p>
          <a:p xmlns:a="http://schemas.openxmlformats.org/drawingml/2006/main">
            <a:r>
              <a:t>这段代码位于内核副作用点，所以控制强度高于只返回文本提示或 finding 的组件。保证范围仍受 Linux 平台、hook 是否挂载、syscall 覆盖和外部 API 影响；系统级拒绝也不自动提供应用层 rollback 或 compensation。</a:t>
            </a:r>
          </a:p>
          <a:p xmlns:a="http://schemas.openxmlformats.org/drawingml/2006/main">
            <a:r>
              <a:t>右侧 Governance Toolkit 代码体现 policy runtime 的 fail-closed 默认。没有匹配规则时 defaultAction 取 deny；localDecision 为 deny 时 effectiveDecision 保持 deny。</a:t>
            </a:r>
          </a:p>
          <a:p xmlns:a="http://schemas.openxmlformats.org/drawingml/2006/main">
            <a:r>
              <a:t>Policy engine 产生裁决后，还需要治理 dispatcher 成为工具执行的统一入口。deny、审批和审计能否影响真实调用取决于这条接线；warn、log 仍允许请求，备用 dispatcher 或治理路径外调用需要单独编码。</a:t>
            </a:r>
          </a:p>
          <a:p xmlns:a="http://schemas.openxmlformats.org/drawingml/2006/main">
            <a:r>
              <a:t>两段代码共同说明执行所有权存在不同层级：ActPlane 位于 OS 副作用点，Governance 位于 runtime dispatcher。两者都需要明确声明覆盖范围。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repos/actplane/policies/readonly.yaml:7-12</a:t>
            </a:r>
          </a:p>
          <a:p xmlns:a="http://schemas.openxmlformats.org/drawingml/2006/main">
            <a:r>
              <a:t>- repos/actplane/bpf/process.bpf.c:2368-2378</a:t>
            </a:r>
          </a:p>
          <a:p xmlns:a="http://schemas.openxmlformats.org/drawingml/2006/main">
            <a:r>
              <a:t>- repos/agent-governance-toolkit/agent-governance-typescript/src/policy.ts:541-563</a:t>
            </a:r>
          </a:p>
          <a:p xmlns:a="http://schemas.openxmlformats.org/drawingml/2006/main">
            <a:r>
              <a:t>- sources/repo_manifest.md</a:t>
            </a:r>
          </a:p>
          <a:p xmlns:a="http://schemas.openxmlformats.org/drawingml/2006/main">
            <a:r>
              <a:t>- reports/11_RQ1_Harness指令遵从性机制详述.md (§4.1, §4.2)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 MCP PEP 把 verdict 与工具执行放在同一 intercept 路径。代码先 evaluate，再写审计；只有 decision.action 等于 ALLOW 时才调用 execute_allowed，DENY 或 REQUIRE_CONFIRM 直接返回。</a:t>
            </a:r>
          </a:p>
          <a:p xmlns:a="http://schemas.openxmlformats.org/drawingml/2006/main">
            <a:r>
              <a:t>同一文件存在 skip_pep 分支，会绕过策略检查并直接执行工具。这说明正常路径具备 hard block 时，显式 bypass 仍要从保证范围中剥离并单独实验。</a:t>
            </a:r>
          </a:p>
          <a:p xmlns:a="http://schemas.openxmlformats.org/drawingml/2006/main">
            <a:r>
              <a:t>右侧 Demo 采用相同结构。detect 产生 Decision；ExecutionGateway.submit 保存 action snapshot 与 decision；ALLOW 才向 effects 追加模拟副作用；DENY 只写 audit。</a:t>
            </a:r>
          </a:p>
          <a:p xmlns:a="http://schemas.openxmlformats.org/drawingml/2006/main">
            <a:r>
              <a:t>底部三类必须分开统计。RUNTIME ENFORCEMENT 表示 verdict 被 gate 消费并影响 sink；SIGNAL-ONLY 表示产生 finding、effect 或 HITL 信号但 caller 未消费；POST-HOC 表示副作用之后由 checker 或 score 发现问题。</a:t>
            </a:r>
          </a:p>
          <a:p xmlns:a="http://schemas.openxmlformats.org/drawingml/2006/main">
            <a:r>
              <a:t>这一区分避免把检测能力写成执行阻断能力，也是跨项目比较时最重要的编码规则之一。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repos/supplement/mcp-pep-agent-security/prototype/pep/enforcer.py:107-163</a:t>
            </a:r>
          </a:p>
          <a:p xmlns:a="http://schemas.openxmlformats.org/drawingml/2006/main">
            <a:r>
              <a:t>- demos/short_chain_compliance/detector.py:146-159</a:t>
            </a:r>
          </a:p>
          <a:p xmlns:a="http://schemas.openxmlformats.org/drawingml/2006/main">
            <a:r>
              <a:t>- reports/11_RQ1_Harness指令遵从性机制详述.md (§5.7, §7)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本页解释 Demo 的八个控制节点。候选动作是 Agent 或测试夹具提交的 action envelope；Policy 使用 default DENY；Schema 检查工具登记、必需参数、额外参数和类型；Scope 对路径做规范化并检查允许前缀。</a:t>
            </a:r>
          </a:p>
          <a:p xmlns:a="http://schemas.openxmlformats.org/drawingml/2006/main">
            <a:r>
              <a:t>Approval 把审批绑定到 call_id、session_id、actor、tool 和完整 args；Decision 返回 ALLOW 或 DENY，并带可归因错误代码；Audit 对 ALLOW 与 DENY 都保存快照；Effects 只有在 ALLOW 时追加模拟副作用。</a:t>
            </a:r>
          </a:p>
          <a:p xmlns:a="http://schemas.openxmlformats.org/drawingml/2006/main">
            <a:r>
              <a:t>Demo 的第一个作用是把 detector、verdict、dispatcher 和 action sink 分开观察。第二个作用是给 SPEC、CONS、AUTH、MED、VERIFY、COMPOSE 提供确定性夹具。第三个作用是用 effect_count 与 audit_count 直接验证路径效果。第四个作用是通过重放、身份、真实 sink 和闭环恢复测试暴露缺口。</a:t>
            </a:r>
          </a:p>
          <a:p xmlns:a="http://schemas.openxmlformats.org/drawingml/2006/main">
            <a:r>
              <a:t>当前边界是单动作、单进程、内存状态和两个示例工具。它用于验证控制链与实验设计，不能推导跨项目分布或生产级安全性。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demos/short_chain_compliance/policy.json</a:t>
            </a:r>
          </a:p>
          <a:p xmlns:a="http://schemas.openxmlformats.org/drawingml/2006/main">
            <a:r>
              <a:t>- demos/short_chain_compliance/approvals.json</a:t>
            </a:r>
          </a:p>
          <a:p xmlns:a="http://schemas.openxmlformats.org/drawingml/2006/main">
            <a:r>
              <a:t>- demos/short_chain_compliance/detector.py</a:t>
            </a:r>
          </a:p>
          <a:p xmlns:a="http://schemas.openxmlformats.org/drawingml/2006/main">
            <a:r>
              <a:t>- reports/13_当前Short_Chain_Compliance_Demo总结.md (§1–3, §6–7)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本页报告 Demo 的实际运行结果。7/7 表示七个 JSON 场景夹具的字段断言全部通过，其中 2 个 ALLOW、5 个 DENY。12/12 表示仓库中的标准库 unittest 全部通过，包含 FixtureTests 2 项、FailClosedTests 6 项和 PathBoundaryTests 4 项。</a:t>
            </a:r>
          </a:p>
          <a:p xmlns:a="http://schemas.openxmlformats.org/drawingml/2006/main">
            <a:r>
              <a:t>0 DENY 模拟副作用表示所有拒绝场景的 effects=[]，支持当前受控 gateway 内“拒绝先于模拟副作用”的局部结论。ALLOW 与 DENY 都写入一条内存审计记录。</a:t>
            </a:r>
          </a:p>
          <a:p xmlns:a="http://schemas.openxmlformats.org/drawingml/2006/main">
            <a:r>
              <a:t>C01 是范围内读取，ALLOW / ALLOWED；C02 是未知工具，DENY / UNKNOWN_TOOL；C03 是缺少必需参数，DENY / INVALID_ARGUMENTS；C04 是路径逃逸，DENY / OUT_OF_SCOPE；C05 是敏感操作缺少审批，DENY / APPROVAL_REQUIRED；C06 是审批与调用精确匹配，ALLOW / ALLOWED；C07 是审批参数不匹配，DENY / APPROVAL_MISMATCH。</a:t>
            </a:r>
          </a:p>
          <a:p xmlns:a="http://schemas.openxmlformats.org/drawingml/2006/main">
            <a:r>
              <a:t>2× 重放实验表示同一个已经批准的动作连续提交两次，结果为 effects=2、audit=2。当前审批记录没有消费状态或 exactly-once 约束，所以这一数字表示已发现的缺口。</a:t>
            </a:r>
          </a:p>
          <a:p xmlns:a="http://schemas.openxmlformats.org/drawingml/2006/main">
            <a:r>
              <a:t>所有结果限定在 ExecutionGateway.submit() 的单进程路径。调用方绕过网关时，当前测试无法观察真实外部环境副作用。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demos/short_chain_compliance/cases/</a:t>
            </a:r>
          </a:p>
          <a:p xmlns:a="http://schemas.openxmlformats.org/drawingml/2006/main">
            <a:r>
              <a:t>- demos/short_chain_compliance/tests/test_detector.py</a:t>
            </a:r>
          </a:p>
          <a:p xmlns:a="http://schemas.openxmlformats.org/drawingml/2006/main">
            <a:r>
              <a:t>- demos/short_chain_compliance/tests/test_path_boundaries.py</a:t>
            </a:r>
          </a:p>
          <a:p xmlns:a="http://schemas.openxmlformats.org/drawingml/2006/main">
            <a:r>
              <a:t>- reports/13_当前Short_Chain_Compliance_Demo总结.md (§4–7)</a:t>
            </a:r>
          </a:p>
          <a:p xmlns:a="http://schemas.openxmlformats.org/drawingml/2006/main">
            <a:r>
              <a:t>- 2026-08-26 local rerun: 7/7 fixtures and 12/12 unittests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本页给出后续样例设计指南。最小实验单元是 project@commit × enforcement point × entrypoint × configuration × workload × fault/bypass × repetition；每个样例必须固定项目提交、控制点、入口、配置、输入任务、故障或旁路条件和重复次数。</a:t>
            </a:r>
          </a:p>
          <a:p xmlns:a="http://schemas.openxmlformats.org/drawingml/2006/main">
            <a:r>
              <a:t>六类刺激依次覆盖合规对照、单一违规、默认与异常、授权变异、旁路入口、后置与恢复。合规对照用于确认控制没有误阻正常动作；单一违规只改变一个因素；默认与异常覆盖 no-match、解析错误、超时和后端故障；授权变异覆盖参数、主体、资源、会话、重放和过期；旁路覆盖 raw callable、provider、plugin、未 attach 和 hook 外入口；后置与恢复验证 re-gate 与 audit。</a:t>
            </a:r>
          </a:p>
          <a:p xmlns:a="http://schemas.openxmlformats.org/drawingml/2006/main">
            <a:r>
              <a:t>观测对象必须包括 verdict、状态迁移、工具参数、action sink、环境差分、audit 和退出状态。模型文字只能作为辅助证据，最终判定以真实 sink 和环境终态为准。</a:t>
            </a:r>
          </a:p>
          <a:p xmlns:a="http://schemas.openxmlformats.org/drawingml/2006/main">
            <a:r>
              <a:t>结果标签的含义：PASS 表示状态、环境和审计均符合预期；FAIL-OPEN 表示异常或旁路后仍发生违规副作用；FAIL-CLOSED 表示异常时阻止动作，同时要报告误阻；SIGNAL-ONLY 表示产生信号但没有改变 sink；POST-HOC 表示副作用之后才发现；INCONCLUSIVE 表示依赖、权限或环境问题使控制未真正执行。</a:t>
            </a:r>
          </a:p>
          <a:p xmlns:a="http://schemas.openxmlformats.org/drawingml/2006/main">
            <a:r>
              <a:t>确定性样例至少重复 5 次；含 LLM 随机性的样例还要固定模型、版本、temperature 和 seed，并按预注册次数重复。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reports/12_RQ1_机制总结与完整实验用例设计.md (§5–9, SPEC/CONS/DETECT/AUTH/REC/MED/VERIFY/COMPOSE)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 Demo 改进分成三个阶段。Phase A 是授权加固，加入 nonce、消费状态、expiry、revocation、可信 principal、canonical args、参数哈希和审批存储故障夹具，将当前五字段匹配扩展为一次性、可验证、可撤销的授权语义。</a:t>
            </a:r>
          </a:p>
          <a:p xmlns:a="http://schemas.openxmlformats.org/drawingml/2006/main">
            <a:r>
              <a:t>Phase B 是状态与真实 sink，加入 session、调用次数限制、跨步 provenance、隔离的 instrumented sink、symlink/junction/TOCTOU、部分成功和并发，用于观察真实文件、网络、进程或资源环境中的副作用，并测试检查—使用竞态。</a:t>
            </a:r>
          </a:p>
          <a:p xmlns:a="http://schemas.openxmlformats.org/drawingml/2006/main">
            <a:r>
              <a:t>Phase C 是后置验证与闭环恢复，加入 tool-result postcondition、有界 replan/resume、恢复动作重新授权与重新过 gate、持久且可关联的 audit、redaction 与尾部完整性。</a:t>
            </a:r>
          </a:p>
          <a:p xmlns:a="http://schemas.openxmlformats.org/drawingml/2006/main">
            <a:r>
              <a:t>底部四个不变量贯穿所有阶段：所有动作进入统一 gateway；每个 verdict 都可审计；DENY 在 sink 前生效；恢复动作再次经过同一 gate。</a:t>
            </a:r>
          </a:p>
          <a:p xmlns:a="http://schemas.openxmlformats.org/drawingml/2006/main">
            <a:r>
              <a:t>三个阶段的顺序体现风险优先级：先修复授权语义，再扩大状态和真实副作用观测，最后形成后置验证与恢复闭环。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reports/13_当前Short_Chain_Compliance_Demo总结.md (§7–9)</a:t>
            </a:r>
          </a:p>
          <a:p xmlns:a="http://schemas.openxmlformats.org/drawingml/2006/main">
            <a:r>
              <a:t>- reports/12_RQ1_机制总结与完整实验用例设计.md (REC, MED, VERIFY, COMPOSE)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本页收束下一步工作。第一项是冻结动态子集，为每个项目固定 commit、依赖、OS、模型/API 版本和配置，保证运行结果可比较。</a:t>
            </a:r>
          </a:p>
          <a:p xmlns:a="http://schemas.openxmlformats.org/drawingml/2006/main">
            <a:r>
              <a:t>第二项是建立统一适配器，登记 entrypoint、enforcement point、action sink、状态存储和 audit sink，明确每个项目的执行所有者。</a:t>
            </a:r>
          </a:p>
          <a:p xmlns:a="http://schemas.openxmlformats.org/drawingml/2006/main">
            <a:r>
              <a:t>第三项是执行故障与旁路实验，覆盖 no-match、parse error、timeout、backend failure、partial success、crash、raw callable、provider/plugin 和 hook 外路径。</a:t>
            </a:r>
          </a:p>
          <a:p xmlns:a="http://schemas.openxmlformats.org/drawingml/2006/main">
            <a:r>
              <a:t>第四项是分层比较并升级证据，只比较同类 enforcement point，例如 approval 与 approval、postcondition 与 postcondition，同时寻找独立复现或生产证据。</a:t>
            </a:r>
          </a:p>
          <a:p xmlns:a="http://schemas.openxmlformats.org/drawingml/2006/main">
            <a:r>
              <a:t>最终验收需要同时检查 verdict 是否由执行所有者消费、真实副作用入口是否完整调解、默认与异常分支是否明确、恢复动作是否重新授权并进入审计。Action sink、环境终态和 audit 三者一致时，代码机制才能推进为可验证的 deployable harness 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reports/11_RQ1_Harness指令遵从性机制详述.md (§10, §13–14)</a:t>
            </a:r>
          </a:p>
          <a:p xmlns:a="http://schemas.openxmlformats.org/drawingml/2006/main">
            <a:r>
              <a:t>- reports/12_RQ1_机制总结与完整实验用例设计.md (§7–11)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8561ff19943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4beafaafda4295" /><Relationship Type="http://schemas.openxmlformats.org/officeDocument/2006/relationships/slideLayout" Target="/ppt/slideLayouts/slideLayout1.xml" Id="R7d010970207048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010970207048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762f4be2e4d44" /><Relationship Type="http://schemas.openxmlformats.org/officeDocument/2006/relationships/notesSlide" Target="/ppt/notesSlides/notesSlide1.xml" Id="Rcefe73781e1440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82aacfd394fa2" /><Relationship Type="http://schemas.openxmlformats.org/officeDocument/2006/relationships/notesSlide" Target="/ppt/notesSlides/notesSlide2.xml" Id="R658036460f7f4d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45924c26747c0" /><Relationship Type="http://schemas.openxmlformats.org/officeDocument/2006/relationships/notesSlide" Target="/ppt/notesSlides/notesSlide3.xml" Id="R86257373a040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620c55c384675" /><Relationship Type="http://schemas.openxmlformats.org/officeDocument/2006/relationships/notesSlide" Target="/ppt/notesSlides/notesSlide4.xml" Id="Re179a68a5f0a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65a24b10041e8" /><Relationship Type="http://schemas.openxmlformats.org/officeDocument/2006/relationships/notesSlide" Target="/ppt/notesSlides/notesSlide5.xml" Id="Rbf83c4537dbf44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18082f6f84de8" /><Relationship Type="http://schemas.openxmlformats.org/officeDocument/2006/relationships/notesSlide" Target="/ppt/notesSlides/notesSlide6.xml" Id="R36dd4e6ebe8946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eb815118e4e89" /><Relationship Type="http://schemas.openxmlformats.org/officeDocument/2006/relationships/notesSlide" Target="/ppt/notesSlides/notesSlide7.xml" Id="Rc2aa47f65d0b4a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a3d51e9a142da" /><Relationship Type="http://schemas.openxmlformats.org/officeDocument/2006/relationships/notesSlide" Target="/ppt/notesSlides/notesSlide8.xml" Id="Rcb8f96fc47fb45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b3a2a6c5e43c1" /><Relationship Type="http://schemas.openxmlformats.org/officeDocument/2006/relationships/notesSlide" Target="/ppt/notesSlides/notesSlide9.xml" Id="R13d9ce25be0f43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e5891717c4bb8" /><Relationship Type="http://schemas.openxmlformats.org/officeDocument/2006/relationships/notesSlide" Target="/ppt/notesSlides/notesSlide10.xml" Id="R2e0f197712ab42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18e515449490f" /><Relationship Type="http://schemas.openxmlformats.org/officeDocument/2006/relationships/notesSlide" Target="/ppt/notesSlides/notesSlide11.xml" Id="Rd571c58d0d064b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b6b644c71405d" /><Relationship Type="http://schemas.openxmlformats.org/officeDocument/2006/relationships/notesSlide" Target="/ppt/notesSlides/notesSlide12.xml" Id="Rae115b2c0d5e4f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07c1416f8467e" /><Relationship Type="http://schemas.openxmlformats.org/officeDocument/2006/relationships/notesSlide" Target="/ppt/notesSlides/notesSlide13.xml" Id="Rfaf7e2f2871147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c7408091f48c1" /><Relationship Type="http://schemas.openxmlformats.org/officeDocument/2006/relationships/notesSlide" Target="/ppt/notesSlides/notesSlide14.xml" Id="R7fa0af544ff944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3BF27A-A7D9-4D67-98A8-BC4079C7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4406C-48C9-4F1F-99BA-001CE5F5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CURRENT FINDINGS · CODE EVIDENCE ·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C5F38-CA45-4901-9802-3453ADB8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从相关工作到代码级证据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6DA0A-CACA-4D68-95AB-D87CC52B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开源 Agent Harness 的当前发现与验证进展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88E82-5FE5-4194-BB3C-00105415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聚焦执行所有权、关键代码锚点、跨项目分布与 Short Chain Compliance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BCDC5-EB51-4F98-B4C8-D7F94D8C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51FF4-EE44-43F1-A21F-1D5FB72D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RQ1 阶段成果汇报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DF1C3-5AC3-4216-8C6D-190D55C6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2026.08.26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C471-E667-4443-8705-5B885D1A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85800"/>
            <a:ext cx="4286250" cy="531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EBE6C-2796-4524-A34F-F115A7D5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HARNESS CONTROL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CB5C3-34F8-4715-A829-A431FC42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381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2C14F-BBB5-4BCF-835A-8C01101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9CC55-16CE-4F5D-AC6D-E165D7A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E5B7A-988B-4ADC-AA28-93792648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78A35-4663-4E69-8D13-5C63F3FE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43891-8477-4F36-9CFC-BFE1666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AB883-B012-4071-9E47-936964D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00F2F-BC3B-46D0-A88A-9B066094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Policy / Specification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865E7-5D23-464E-85B1-D06AE5AF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764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rules · schema · capability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F3195-C4B9-4E7F-A104-700C15E3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CD8B6-5AA5-4505-A6A1-83A8E900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A0DA2-B299-4746-B508-255F2D4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68B35-3797-467D-BF51-235F68D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289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· pause · allow · recover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3F955-B871-473A-89CB-33120CFE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0510D-B038-480A-89C7-D8028159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49B7A-329A-441E-BEB2-82E665C9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Unified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B0F45B-759B-4DC5-8B08-92B241B9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814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dispatcher · PEP · sandbox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6E42D-39A0-497C-9006-1E1DBFF4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57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16AD6-2D4D-4AB0-8B86-B003EE5C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571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79515-2283-4A1F-833D-C4EF1891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Action Sink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D25EBC-5C9D-4294-9E50-C9A3EED7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339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file · network · tool · final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E5113-337E-4DD0-A72B-81AC35F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 + 2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EC3D2-B0AA-4A5C-B2A4-888A1642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578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实现单元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1EAE5-F251-41C4-920D-4263A61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91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66BA70-3A0F-49C7-9413-B458626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578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实验用例</a:t>
            </a:r>
          </a:p>
        </p:txBody>
      </p:sp>
    </p:spTree>
    <p:extLst>
      <p:ext uri="{BB962C8B-B14F-4D97-AF65-F5344CB8AC3E}">
        <p14:creationId xmlns:p14="http://schemas.microsoft.com/office/powerpoint/2010/main" val="2082022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DDCDA-3FE3-415F-A4BB-78B33101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6D47B-E1FB-4BBC-8929-61B4796D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SCOPE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35B56-9E7D-468D-8B2B-2C9B0F51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D80AB-C6BA-4C24-BA0A-271FE9B4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从相关工作到当前成果：研究视角逐步收敛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67F78-15E6-4999-8BE4-6BFBAD1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旧PPT保留为文献与问题背景，当前成果建立在固定提交、执行路径与可运行夹具上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FE9A8-3271-434A-98AD-29D937E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10001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63F1B-E866-49C6-A474-A7239352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190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EAB6E-47A9-4284-B002-66B60643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190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C5218-A326-4D60-82B3-7341EF4C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90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25D3E-5984-4C6A-9622-89D85F79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8575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C0A44-C0B9-4A71-92CB-B1332668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18729-7BC6-4D79-A82B-2F5F892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文献与问题基线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D8165-C20E-4D38-BFF3-5A51908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457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AgentIF、结构化输出、ActPlane、测试实践与 Harness 概念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产出：RQ1、研究对象、初步机制线索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4A51A-99ED-4509-BE37-E00C59D7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28575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4A61E-6CCD-4F43-84C8-2FCBCF7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A2276-0E10-4CB6-80B8-B871FC7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526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固定提交代码审计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87CBD-6EA2-4F32-BD86-CD3C4E6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95550"/>
            <a:ext cx="2457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定位 entrypoint、verdict owner、action sink、默认与异常语义、审批绑定与旁路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产出：21 + 2 主矩阵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9E46E-1D75-4192-82C1-641150D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434340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C1693-E253-4DEB-A72B-48CAA47B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AF76E-B280-42AE-86D9-8AE3BB8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394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可验证实验路径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B051D-5D8C-4818-8C40-DAAACC6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39433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L1–L8 生命周期、7 类保证形式、8 种组合结构、58 个实验用例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Short Chain Demo 将 verdict→sink 变成公共夹具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4410D-114D-42BD-A899-1894F8EE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44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C8489-C7C1-4645-846E-65D5AC03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口径更新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1A8D0-AC22-401F-9CD9-5E1FE14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旧PPT第 23 页的 10/7/7/6… 属于探索期计数；当前分布采用明确分母、去重规则和证据等级。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CC1C0-8D71-4180-9894-F1B47C79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5006A-8586-4F47-9D81-93CDC0C5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来源：相关工作PPT提取；报告11–13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BCC1C-0B6B-41AD-9CFB-F64DADA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443200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5B70C3-84BF-4F96-984F-487DD83B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EECBD-1B3D-456E-89B4-F7BF33D6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HARNESS KEYWORD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235D5-46B9-49DB-AFC1-92EF3CD1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8108B-6846-468C-935B-07AEEF58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“Harness”在本研究中指向可部署的执行控制基础设施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AFE9E-74C4-49D3-BC75-79ED8737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核心判据：代码读取运行态信息，产生裁决或状态变化，并对可达副作用路径产生影响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B76CF-0F39-47C6-A0C8-57B16249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0287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3C07A-E662-45CA-AC14-8534F19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66A06-8A42-4785-ACBE-3BFD5843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DF806-AA0E-45E1-B2BC-21356EF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98CA6-D63A-4C0B-A1C7-E36D8124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FEBD7-E563-4ACA-B364-665A5844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E0D13-3A11-4C45-BBFA-115E4D8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D230E-122C-4258-A411-37F181F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3E3A1-2682-4242-AB4E-BFD0C7F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4244E-AB05-4014-8FA9-FA0B093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05B80-84D8-422F-BB86-3B56F9A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97E5A-9CAB-4534-8982-9B2E8C9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A87C1-E4A8-4F9B-9109-1941BB11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D13DE-8A5E-4ACD-9803-3B8D357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E76CA-B1E9-4606-9338-45BC79CF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DAF0A-6470-40D6-ADD5-BD800854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dispatch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E1D21-CFF1-43C4-9A22-9917D956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E1F74E-896C-44D4-822E-255B162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F4A51-1348-44E8-9FE5-47F8F10A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后置验证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20852-6B5F-43B7-A1D4-EA07A4A8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67962-05E5-41DD-89E6-0D353E18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10820-5C26-4957-B972-2725986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2FE13-F71C-49B7-9A05-9794EFE9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857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1244B-2429-4A66-B1DD-01E96D68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68F04-0EF7-44EF-B464-B058D83C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004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D3B1C1-A0A3-4A66-BB2E-C8BA671E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744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65060F-DAF2-43F3-805A-D16F971A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HARNESS LAYERS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EB760-6A4C-49DB-A1E9-FA7326FF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67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policy / schema / capability / approval / gate / sandbox / postcondition / recovery /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634DD-B934-426B-A72A-669E122F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2766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8BBE08-AA85-46F8-AD82-977FD35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A6EBA0-56E7-4983-A5E0-F503F1FD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读取运行态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58A19C-0F42-4BBB-9B01-E697D90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消息、计划、工具、参数、主体、状态或结果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5DD300-3640-4B1A-807D-31476931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32766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8CB80-16AF-4442-8652-782EAF8E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06D004-7E4D-4711-8AB0-3D95CA8F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产生可执行语义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ED958C-6222-4C9E-BE85-60FC585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验证、变换、暂停、拒绝、隔离、恢复或审计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5FE53A-C4BB-4221-A3C8-BFBB4E31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36576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3446D3-2F78-450E-A323-F023FA3B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946BB5-8620-459E-A69E-53F539FA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支配受控路径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9A8926-402F-4FA9-A7D4-99DE9BE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进入 dispatcher / sink；旁路必须单独记录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8DEFAF-6509-4134-BD12-4CA9C3AF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A29C13-0C4B-435E-A9AC-05D134B4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来源：报告11 §2.1、§13.1、§13.3；报告12 §2.1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160670-2A29-4E8C-BFB8-B9B8CFF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327862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AE9394-DC53-4896-8941-98BFFF61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07F0D-8F46-4691-95F5-BAA332A0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EVIDENCE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C1230-BAC8-4255-B68C-43A49176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3163-9D61-4BA7-9746-E13A5CD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当前证据库：分母、固定提交与验证边界均可追溯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BE664-E4BA-4B11-8A93-ADC05E2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项目数、实现单元数、检测对象和材料清单分别承担不同用途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56BFA-7AB8-4639-812D-710ECF8B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00A39-9978-40C9-B96D-EE79067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C239C-280C-4DCF-92E4-CC4DAEB6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8B83F-B215-439D-8763-5F82DC14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runtime /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96BD1-3E91-45AF-A43F-D05BE384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I01–I05 · P01–P08 · S01–S08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98FB5-2881-4943-982B-1D87056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4C435-3A1D-4FAE-9DD0-3AC76A07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FE0C4-D4DD-47AE-A747-B63E7F53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DCF50-2BFC-4A10-B4E7-19F3C81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detector / postcondition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3733F-647E-463A-A92B-867DF543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AgentDojo · HarnessAudit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462C9-2EA5-405F-AD93-F6C9DD3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23431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C10F8-3E69-49CB-A34C-63F4D798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B1031-BBF2-4DF0-AC25-BE0B314B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1A85A-A04D-4FD5-9B10-0C2AB68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补充仓库 manifest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59A44-A5FA-413A-B3D0-4D3A739C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 complete · 3 partial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6B4A8-89C8-4DEA-9957-C4DF2820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3143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4D636-8652-44E6-BF7E-7056112C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7CEF3-6E35-44F0-9469-FC41BED5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F603C-5B42-4E51-90C6-6FB66FC4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完整实验用例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40816-3F9C-44A9-B4D4-EC40D46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4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SPEC · CONS · DETECT · AUTH · REC · MED · VERIFY · COMPOSE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243C1-C2EA-486F-A159-ED570A4F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C88E0-4F4F-482B-8C3B-C0B8A2C4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9AF6C-7736-4781-8F8A-121589B6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8A45C-2DFA-4C12-8905-7410907F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CE11C0-12E2-4C8C-ABE7-945F865F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416C0-658F-4C43-BA49-782D1E7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1291E7-75BD-44E3-8542-A59FC0B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源码锚点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822E88-273C-4007-A7F0-40D3E4FC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289A79-7F9F-42DE-A068-B183E37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608FAB-1E27-4C3B-B0FC-D116FA2F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测试/本地行为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9643B-5ABC-412E-95AA-F6F99709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73E3BD-28B4-4D44-BB18-B7624C2A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0A7890-A6E4-4699-83EE-02637CF5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论文测量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04B159-5A94-4F02-9CAB-FE1C8216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1809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EF9189-ECF7-4DC0-92CF-CDB9940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55C458-94D0-499D-8A31-C504BA91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624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独立复现/生产证据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58C87E-B8F1-4641-B59B-291323D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44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5ADF85-B418-4DF7-8F64-73EE9E28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本地验证账本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5161E8-0E00-4126-9E05-8FDAF0CF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Enterprise 核心 guardrail 23/23；全量 25/34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2E2347-3478-471F-874A-98D20745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14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MCP PEP 39/42：1 failure + 2 errors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566FAA-7B4C-4442-90C5-3419E0AB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197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0C07B2-4359-431E-99E2-BE14B00B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4827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E4 = 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DD2E6C-8EE4-48C1-9CA1-9317A7A9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28089F-ED49-4359-883D-EFC5E041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来源：报告11 §2.2–2.3、§11；报告12；supplement manifest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879EBF-08A1-4D9A-9C34-80718AA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57921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B9ADB3-6926-488F-9AE4-6525029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2D55C-E44F-4F3E-84CE-56E5CC16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DISTRIBUTION ·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80B6E-EED6-4A1A-AD27-B1BBBE8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E2200-0137-4724-ABE1-AF0C685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项目结构分布：组件型实现数量高于系统级副作用控制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C225F-7100-413C-AB5E-B53D646E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I/P/S 为 21 个实现单元的组织分组；D 组独立报告检测与后置验收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82124-D50D-4279-A718-83941B90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N_impl =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6E0AC-16A7-49E3-801B-BA80171D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08642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02032-1E08-4443-81B9-02DFF6B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029" y="2305050"/>
            <a:ext cx="333828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24C6C-E3CC-4C3A-9C7E-A93D6BB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314" y="2305050"/>
            <a:ext cx="333828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18481-8685-4620-ACAD-3486602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08642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 ·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678D9-DA71-447F-AAE9-341C9190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029" y="2447925"/>
            <a:ext cx="333828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 ·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438AB-4346-4BFB-B0E4-EC39E788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314" y="2447925"/>
            <a:ext cx="333828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 ·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9929F-7B59-4FF2-84C1-B813B642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6954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7C1D0-91C5-4880-9993-E9226599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43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·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F3A4A-A71E-4522-8662-602280B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479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单独分母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81153-361D-4A7B-8029-335F8212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5336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54DF5-3A6F-47F8-94D3-166DEA4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6B222-9DF4-4395-BD37-B9BF2F27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I｜在线强制 / 代码拥有恢复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352EB-AA3A-40B2-A151-9A9E2B3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1336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OS hook · runtime gate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dispatcher · rail · composer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优势：接近真实执行或最终返回权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边界：hook · client · raw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E5656-D2D7-4868-9BF0-DC6C10F2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25336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B64D8-6269-420C-BBC4-2264045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4FB24-D2A9-45AD-B6C5-FF2F0B6C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P｜策略 / 能力 / IFC /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6C218-7A78-4031-90D5-64C44B16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1336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policy · interpreter · router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PEP · adapter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优势：表达 provenance / capability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边界：配置 · attach · 受控解释器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0D84B-6AEF-441F-A19E-3B0634A4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25336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4C725-4BB1-4228-9421-73CA129D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FD031-C1AE-4111-8E50-B344DF17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S｜SDK / 审批 / validator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3FBEC-C3FF-4151-B5C9-5760F34A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21336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middleware · scanner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approval state · validator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优势：便于接入 agent loop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边界：verdict 依赖宿主消费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3B18B-794F-4AF8-92CA-32F2A2B8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25717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88D42-9023-429B-9D42-A9703FA2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0CCA5-AC60-4F86-89EC-1E49B86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D｜检测 / 后置验收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232A36-68DD-47AA-9BF7-363B6D2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90950"/>
            <a:ext cx="2171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runtime checker · trace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completion · action sink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优势：补足终态和轨迹证据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边界：通常不在线阻断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80AC89-29D0-404A-BC92-E144D0D9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207A0-8FD1-414C-9F93-79C4D4EC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来源：报告12 §4.1；报告11 §3、§8.1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BBF822-440E-44A3-BED7-62904DA2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99036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12427A-A577-44C8-AC8E-45BB641F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8F83D-1D88-46BF-A648-57425978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DISTRIBUTION ·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6E3A6-E13F-42DB-842C-4BBD135E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1D3EA-7732-49FD-A671-F178522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生命周期分布：执行前验证最密集，真实执行与闭环阶段较稀疏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0F0F3-CC9D-46F4-A842-526EC0A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L1–L8 采用多标签编码；代表数反映当前主矩阵覆盖，阶段数字不可相加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8E1AF-80E0-4E88-9F60-93594137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  指令 / 意图规范化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62115-A04B-4216-BE25-52F7A8B9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F3B48-9ACF-4260-ABAB-C1B0DFC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3714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94244-BB2E-428C-BE98-3BE3F5B8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85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C80D7-8DC6-4CD4-964E-99F224B5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L2  规划 / 工具选择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B38C4-F9D3-4FB7-A4FF-11A9472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2CC92-E58E-46DC-BAFC-64EE6D66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27860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879AC-B7F6-4046-8900-389B569B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BE121-BA15-41BE-A89C-5F99397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  执行前验证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3389F-70A7-4EE4-96A8-40DA49B7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956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15844-1D3B-4C16-9697-3BF53DB8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956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E0533-59D1-43A6-B5CF-133C9B8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445B6-9C70-4A5F-A37A-AD84AC64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L4  审批 / HITL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2E153-41A6-4990-9F1E-1D98E36A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7CE60-0CEE-499F-B3D0-D21B8A55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4179094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C1E62-AB0C-417B-B787-3FE28AD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14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78164-12FF-4D3F-A665-A635AE9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L5  dispatch / 真实执行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4E7FE-9BC1-4F22-AC62-8A8D964E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C7A47-DE03-42F3-8CEB-BDBB681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27860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7D90E-3E66-4842-B800-C5FF9E15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90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CD4E5-BA84-48E6-9FD9-7BF7C341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L6  后置条件 / 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A9322C-0F94-4694-8230-1FEECC8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0CC0A-E504-41CE-B0DC-85B8303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325040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2DF07-5D74-4EFD-9C72-F9E0D35A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3AF9F-0C0D-4D10-B655-54237C01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L7  恢复 / replan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D7170-811C-4F32-8C36-A8CAFA2C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0060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CC2935-9A91-4B40-BF3C-8FF7235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00600"/>
            <a:ext cx="27860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B3723-752A-4F09-B865-8222A45E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43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240351-F94B-45D2-A5B9-3E29883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L8  审计 / provenance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1B3AC3-BC30-4FD2-AA74-93349BE3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76850"/>
            <a:ext cx="7429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41B8C-D53A-4458-B74C-6C9A62DF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76850"/>
            <a:ext cx="325040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33F661-21B2-4270-ADA3-290A9A5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19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205FF1-F51D-4A20-A7ED-3B6923BC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34AA3B-2429-45DF-B85F-B4225325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N_impl = 21 · MULTI-LABEL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656478-D34E-4987-B590-B753D425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57850"/>
            <a:ext cx="2933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BEF735-DBDB-443E-A1F3-FF5F8B78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912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结构性缺口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4FB625-0971-4D8C-A901-D3157E3E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72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L5 / L7 / L8 均 ≤ 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39AD53-225F-4596-BD53-83022870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C4AD29-1FB8-4361-A314-31C6907C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来源：报告12 §4.2；报告11 §8.2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D68B14-BD15-4D0F-9DFD-0317ED1D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546295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5A8284-6324-4065-9459-F776FB58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C1A38-D449-48EA-8907-95F0F2E6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DISTRIBUTION · GUARANTEES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A87EC-9588-4B5F-B23A-4F5FF5E7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B6B27-A231-41A7-BFD5-7D4E57C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保证形式决定结论强度：同名机制可产生完全不同的执行效果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DF982-7F88-48C7-940F-1CBE32AC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判断顺序：裁决发生在 sink 前还是 sink 后，verdict 由谁消费，异常与旁路如何处理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04E26-778D-4D73-91DB-4ACEE16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Conditional continuation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2C5C2-AA05-4E16-8488-3E89BD3B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9F460-7724-4967-A517-08B5861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C9E49-4942-4028-880C-2BA5399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0D4B5-3839-473C-AE16-F41E67B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Pause /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B6684-E0EF-4E33-9BA9-7D1BD573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193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281B1-1B38-4BEC-935A-71307BA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19350"/>
            <a:ext cx="33575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18401-11F8-4FA8-B0D6-EB940890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D1DC5-6E1D-4FB4-A12D-A5FFBDC4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Hard 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331F1-EA42-4E81-982A-895E8D8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765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4824D-AC32-415B-926F-D7E55761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76550"/>
            <a:ext cx="186531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03C7A-69B7-4C22-A3A9-E956BED5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19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31D6-F215-4EA2-8282-A14F2F2A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3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Semantic / IFC confinement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06833-A62C-4C2D-A99D-C192015D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D646A-AD93-4B32-931D-B7B5178E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1492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BD57D-4FE7-4D26-A6EF-B1D15D3F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BC588-01BE-4F54-A8E0-3CC1A756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Post-hoc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80A09-893C-442B-B9BE-9C815E6B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909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1EC65-1CFF-4F46-8319-D1549A29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90950"/>
            <a:ext cx="1492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44ED1-5266-4238-A60C-29DC825D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331DB-9430-4D20-98DA-DE3A773E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Soft feedback / replan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FE2A9-B877-44DE-AEE1-3B0EDFC8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481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05A7F-086B-41C4-B779-AA274F55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48150"/>
            <a:ext cx="1119188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8016C-A8BC-4642-9367-6FB3F15E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26FB3-3717-40E0-AA04-0E3A863F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OS / container isolation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B1960-B24F-4BC7-8F5C-289E9D82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05350"/>
            <a:ext cx="4476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DEFFA-D7B8-4E8D-AA93-E7C6A62C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05350"/>
            <a:ext cx="7461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C640D-0921-4806-8D10-D38EAC9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48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A08D26-6159-4ECE-95A6-1B0F35F7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342900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27B26-BA68-4D88-8070-D5B15B6D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执行强度判定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86A06C-4D98-481B-BA29-0FDB3E20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22CC79-6F62-4632-A1A6-274A3E2C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FB824E-D5B2-4C31-AB8D-EAB40049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副作用点 / 统一 gate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A4BB70-25A3-45BB-B12F-48E96BE6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86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可直接阻断受控 sink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360F92-5F9A-4245-8BE0-7EB537E8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171A05-1BEC-4AFB-A770-8F42023F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B2A0A0-36C4-4A8B-8DD1-34A7415E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审批 / pause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46EEFC-8431-424E-AFE5-0A736B53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57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接线与绑定正确时暂停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B28F7D-535D-4CA8-951D-7246E493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B25C24-DF14-4B49-A830-A275E37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814DD6-B179-4E73-9847-8AD4186C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validator / scanner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9FD16D-E654-4551-B231-3EB4FCA7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29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需要 caller 把 verdict 接到 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3514A8-2E47-4169-BCDA-168A3AB8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0B6519-7B45-4F11-8768-B90C5B5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9F0D34-FC0E-4F22-AFD2-0AAAF8D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oracle / score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77C346-D452-44ED-85FF-D0604FE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005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主要提供事后发现与证据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D8C174-77C4-4775-BC1C-61721877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9115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9D9BA2-997C-4E34-8C30-A3576BF7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D652CA-D540-49FD-9EA0-206AD5C2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340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必须支配 action sink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5D6BC0-A006-4DEF-8D1C-36FE406B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CA38A5-7A1E-4B73-B342-572240C8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来源：报告12 §4.3–4.4；报告11 §7、§8.3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368342-75A8-4EAB-B129-8EF293F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202079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37289-8A25-40A1-9BD0-93C15433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7820F-EAD2-48F5-93E3-DE7DE1FA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CODE EVIDENCE ·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4B414-2620-4A34-AF06-214135B4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B9A44-4036-4658-BA10-3C30371A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关键代码证据 I：规则只有连接到真实执行所有者后才形成强控制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394EF-28F3-45B3-858C-51D9B2F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ActPlane 在内核副作用点拦截；Governance Toolkit 在 policy runtime 中生成可供 dispatcher 消费的裁决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637D1-8A12-4CA3-B713-9B7E50CA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2006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A55C5-10F9-4CB6-9945-AC69E76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301C7-3841-4516-9F38-0224CE90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ActPlane · OS-level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C8A46-0BE6-4CA0-8957-810CB6B3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743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rule readonly-subagent: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kill write file "/workspace/**" if AGENT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kill connect endpoint "*" if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SEC("lsm/file_permission")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return te_handle_file_permission(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file, access, TE_MODE_BLOCK);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B38B2-2ED7-4970-89B0-E1B7545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474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readonly.yaml:7–12 · process.bpf.c:2368–2378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6466E-719A-447B-B450-71D8B9CC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5276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7BFB2-9FFA-450C-846F-D14A7A06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40E43-C75F-4D9D-8677-381F6A01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Governance Toolkit · policy / dispatcher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38420-B154-4CA3-A84C-97F7405E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819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// No rules matched — fail closed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const defaultAction =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applicable.length &gt; 0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? (applicable[0].default_action ?? 'deny')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: 'deny';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if (localDecision === 'deny')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effectiveDecision = 'deny';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5AA75-0220-4517-9B44-E5E275E8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43425"/>
            <a:ext cx="481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policy.ts:541–563 · fixed commit 81955d4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0256E-12BF-4113-B65D-2001A4F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2006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B4DD7-EDEF-4E7D-A988-1690824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3E0DA-A0E6-4EF7-934F-DEBFA41D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ActPlane 的保证边界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EC484-A881-4AF4-8FBF-7AC2EB4D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覆盖 Linux LSM hook 可见的文件与网络副作用；平台与 hook 外路径需单独验证。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0E34C-B1FE-4EBC-8D7A-212C90CD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52768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906B0-6769-468B-9EE3-BA26584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F57AE-BF74-40D1-A855-A49B656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Governance 的保证边界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CB1A0-18A2-4C61-8297-6D45F5AA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/ approval / audit 依赖治理 dispatcher；warn、log 与备用执行入口需要分开编码。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81F75-D6D2-4920-BBDD-BE119421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6AACC-3D40-4D5A-839B-83DAD20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固定提交：ActPlane 47cd96c；Governance Toolkit 81955d4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3F04D-8F29-4B19-ADB3-73D30F0F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399185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5E7F4-3F25-4FBE-8A63-11AF38F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3AFBE-95C1-4531-927C-45C6F98C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CODE EVIDENCE · CONSUMPTION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1B784-0027-40E1-82FC-A905815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A5F30-4175-486F-ACE8-B89D821D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743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关键代码证据 II：verdict 的消费位置区分 enforcement、signal 与 post-hoc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46862-65DB-4FC9-B2D0-B4DE211B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MCP PEP 与短链 Demo 都把执行条件写入代码；旁路和事后 checker 仍需独立报告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9BBAC-FFC1-4DA3-9FCD-837B7D26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2197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AEB1E-49EB-4202-AB3F-EBC7B78C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281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BC2C2-CDF3-4A53-8532-8205708A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MCP PEP · only ALLOW executes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6AE7E-9D1A-4731-B045-EE2CB896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decision = self.evaluate(call, trace_state)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self._logger.log(call, decision, trace_state)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if decision.action == "ALLOW":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result = self.execute_allowed(call)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return decision,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 DENY / REQUIRE_CONFIRM: no execution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return decision, None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17668-4D10-489D-8161-891E1F4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prototype/pep/enforcer.py:107–163 · fixed commit 3dd9690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69967-AF5D-43BA-8362-17555468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52578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A7DCD-6510-4FDF-B89F-70FE90A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76200" cy="281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DA8C1-A55F-45B6-9913-C4D5843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Short Chain Demo · gateway owns effects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69929-9E22-4655-A6D7-13ECEC89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800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decision = detect(action, policy, approvals)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self.audit.append({"action": snapshot,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             "decision": decision.to_dict()})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executed = decision.verdict == "ALLOW"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if executed: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self.effects.append(snapshot)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792CB-9332-4D4B-B796-750693C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demos/short_chain_compliance/detector.py:146–159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A3696-90F5-4EE3-AA9A-C28F9D6D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74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C52ED-A3FC-48C5-9F43-2E8FFD31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2255C-9F1F-4434-886A-6D34B11F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RUNTIME ENFORCEMENT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1C0E8-3047-462B-A5A3-C5E9E572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→ gate → sink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6AF24-A970-40E6-91DA-AEA47A9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62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A1827-C122-4F42-92BE-80FD0ED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SIGNAL-ONLY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1C395-38C0-424E-8F9E-7EF3E93B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产生；caller 未消费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D3A44-98FA-4806-A664-8791821B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75885-DC4B-4926-9904-DA180F65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POST-HOC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696501-3E16-4EFF-BAF9-B6B7938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4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sink 之后 checker /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6A5F5-0E34-4D04-BAB0-FD176491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A5165-35DA-4522-8853-369866A6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来源：MCP PEP代码；Demo代码；报告11 §5.7、§7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A61A9-D26E-4F57-9217-45BD6AF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220617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D0C415-1546-4D4F-A798-B8D42E3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500DF-9146-4568-AA54-8FA997AC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·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BB2B5-7B87-45CE-8B39-7C60A64C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7392B-886D-4CED-AC99-3251556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 Demo：把最小 Harness 控制链变成可运行、可测试的公共夹具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AA1C9-CAF0-4C8C-B113-713D471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定位为代码路径与实验协议之间的桥梁；所有模拟副作用都由 ExecutionGateway.submit() 统一控制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8A5B0-7702-49AD-96E5-38AF88CA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0325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3F852-EAF7-421C-A04B-2E942C6F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0FDAB-2E56-47E9-93FE-6A0266F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69C03-EA4D-45BB-B5F5-6EEE15C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22A85-CB3B-4E79-B0CB-282F48AD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7C0AF-42A2-4354-A0F5-8F699BFB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action envelope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36680-756E-4CB5-B821-E2D3EB1A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2821E-DB30-4FB0-8CE5-D9433A4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7A011-48A1-4D18-8886-9671948A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4D5B1-6984-430A-AEE1-7270CA3B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919EF-FA1F-4C05-95DB-A5C9D17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default DENY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51971-6223-4F4B-9BCE-4DE8D5C1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091BF-45E2-406F-9A3B-8E1C8AD4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E0D58-91F2-4385-BC3B-CDC80D84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1385E-E424-4C48-99BD-87B6E55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35965-3E1F-4993-8572-556C308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registry + args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E0AE1-2FA5-4C16-BBEF-AA73E6E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D8C55-82D0-4C4E-AD4A-68B0DE3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53654-8E50-4487-8C6E-5699DCD3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1199E-ACF3-4F78-B464-5EAF142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657F9-AF1A-4233-8A8E-1D3326C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path prefix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77BDA-3BD6-404E-B9DC-4A9F494B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52B81D-CF17-4665-A6DB-781B415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9B4B9-4897-4E0B-A2EF-A84CD0AD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63BFD8-9B22-4C91-B02D-CC6A82B1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Approval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968C8-9D3D-4A89-8F06-47264D8D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精确绑定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2E6D05-10BA-4996-920B-B2D7CFF1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B018C-C238-407F-89B8-5D72B73D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B1F7BC-A89F-44CF-A943-4ACB9D3A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1A4ED-C752-4E1E-A16A-ED4D413C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EBFA96-57F0-435C-BD13-EFD8B870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+ code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7930F5-2BF6-4BE0-AF32-3A978CE5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112B10-9A6F-4957-9ACC-F5D26C1D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57F8A5-3A64-4336-839B-840D4CC1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1CF247-C28D-4C47-9388-EC9983E3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3A9B0-D461-4A96-A17F-37A8C761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全提交记录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CE10B8-0F6A-428B-90E2-FED40F7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19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6DEC66-1A40-41DE-9BA6-50A1FF19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57550"/>
            <a:ext cx="1162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1C33B6-D485-414F-8D4E-9A8565BF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57550"/>
            <a:ext cx="1162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AF24B2-A9B3-418F-9D09-EB7A782D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909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Effects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765C6E-8EA1-4B38-A9A4-1AD4F776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6671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 ALLOW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04CB57-7E81-472C-A19D-68D0D719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7442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73D030-756A-45C5-9A62-F45DAE78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的研究作用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53AEA9-3A37-41EE-9A29-F23F5631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将 detector、verdict、dispatcher、action sink 拆开观察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91FDE4-D2FC-4317-AC3A-828F89BF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为 SPEC / CONS / AUTH / MED / VERIFY / COMPOSE 提供确定性夹具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66E88E-ACD6-4087-AC21-321F0D60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435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用 effect_count 与 audit_count 验证路径效果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2078EA-4D15-415A-8874-B0A0A1FD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864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暴露重放、身份、真实 sink 与闭环恢复缺口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A71769-A515-425F-AB57-A7CD82CE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69C6DC-62B2-426E-99CF-C7D7A8A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来源：demos/short_chain_compliance；报告13 §1–3、§6–7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85B283-FBE5-4C59-8E10-D147D050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67169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B7A29F-D8D7-4434-9AE7-1991C58A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0E31F-AB47-4904-9903-6AE85F3C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·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D04B8-6B8B-4C99-AFF4-9FFFB08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19569-0623-4916-B76A-655D1069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实测：确定性拒绝、可观测副作用与可复现缺口同时成立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4B3E7-AC70-4395-BE7B-63BCBD2C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2026-08-26 本轮重新运行 7 个场景与 12 个标准库单元测试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86FCF-0159-46ED-9EC7-870680C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381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F49EE-6015-4119-A0D7-938E822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4794E-624B-4992-94CF-2C2613A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304A2-0735-4959-A608-121A771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场景夹具断言通过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BE43F-0868-4F3B-BB66-CD887C6F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 ALLOW · 5 DENY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81FC1-4665-404F-ADA1-F316E42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2381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1A9C2-2DFE-43A8-B444-D7F79411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86F4B-073A-4115-B0F6-B985D2A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81DD1-73A1-4191-BAD9-A5E419BB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仓库单元测试通过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C2289-FFA3-49AC-B2C7-C7BB512C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Fixture 2 · FailClosed 6 · Path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E316D-816D-45C4-8D9D-B3171F71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2381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4AB2E-D516-4303-A2DF-74A2634A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4C66B-4E19-4E40-B738-021DB60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967D8-6A72-49F8-B296-2B42C6D7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模拟副作用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ABD44-41D7-4C93-956A-5F08557E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所有拒绝场景 effects=[]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5910F-E838-4989-81F0-D8309BB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30289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7CE59-16F5-4DE8-A878-449D41F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59C64-6666-434D-95BF-DBC3B61E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20614-C740-45D5-9B75-2A42830B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同一审批重复执行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BCFC2-222B-412B-84B2-505234D1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effects=2 · audit=2 · replay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4FF61-9DB5-454A-B2DC-1E5634CD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E486F-27E0-4C3D-93D2-A78772D5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2D4BB-19F1-457D-A169-35578A73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范围内读取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DCC4B-3F3B-4139-B0BC-E0970E72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7662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F82A2-4188-47E8-A668-21EB7D58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52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ALLOW / ALLOWED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D3DBC-D076-44B3-ADD4-8E61800A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17189-BD09-4D1E-960F-A379D8D1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5CA50-F3AF-4486-8A50-2E21A538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未知工具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780611-E88D-45C1-BB4E-FFBBA5F7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290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A830C1-A57A-4DB0-86A4-19702FE9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576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/ UNKNOWN_TOOL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83A8A4-4226-4DCD-837D-180EA860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AD208-FE36-4B28-B2C9-E1DF1257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A3708-42D3-4C32-8024-C30174AA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缺少参数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7AE024-7FC8-441E-8EB8-2AC1B162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8152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D0D8CD-9D45-43CA-82AE-5A6C046A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0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/ INVALID_ARGUMENTS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C3892F-A739-4A4D-8331-71D47FF0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D914BD-110A-4B59-A115-5AEBBC95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50F6A7-DF01-4105-ACC3-4920313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路径逃逸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4744F5-0562-411C-8E3F-2D69A480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339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5CED02-1F5D-431C-AC38-35CA120C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625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/ OUT_OF_SCOPE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45B458-CA2C-4374-B586-364FE099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9B0308-2B5E-4BB5-A9D4-AEF3D15F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525321-A90A-4AB5-A800-F6FCC1EA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缺少审批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39BB87-A7D6-4BBF-8A49-AD566B48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7662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D445FC-8C4B-46C9-9546-7D3440A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052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/ APPROVAL_REQUIRED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6891C7-78A7-4837-A27D-28C48BFC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81E73C-53EB-454C-98F2-17D520F8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C06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F5EEBC-25FE-4F67-BEAD-CD32AAC9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精确审批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CADCBB-D370-4749-AE0E-E86B878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2907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274294-206D-4012-B06B-9A595A56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ALLOW / ALLOWED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8B1452-18CF-4C42-B697-303C10F6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523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77167A-58B7-492B-8CEC-DAA0D6C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2BEF17-D933-49F6-8696-BA7B1A8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审批参数不匹配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2D391B-A0A6-450D-BC58-B109B0DC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81525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46E29F-7DD6-4B3D-A696-E445BE5F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10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DENY / APPROVAL_MISMATCH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E04EBD-62B3-497A-BA20-50DE477C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238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B9CBE2-5CFA-49C7-B4B6-2F649BF1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保证边界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7D3E98-500A-43E9-AD4F-0E928A7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0065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结论限于 ExecutionGateway.submit() 的单进程受控路径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B4E5ED-EC2D-4C8F-BF0F-2B81C075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65FC71-63CC-4CC2-A686-1538804F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来源：Demo cases/tests；本轮本地重跑；报告13 §4–7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16AD93-ACB2-422F-B330-DEE581B7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350676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00DFB4-C353-4713-8D3D-2F6E6624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6D908-A5E3-4683-9B62-42C1A5B1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1DE05-C394-4675-B8DC-D8443336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07F11-C607-4D08-8598-0864A79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样例设计指南：每个控制声明都要经过正向、违规、故障、旁路与恢复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2EB56-6920-40B4-BE1B-37A4E883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最小实验单元：project@commit × enforcement point × entrypoint × configuration × workload × fault/bypass × repetition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ED135-3F9F-4A6F-8856-7ED9AD4D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9867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0B519-B953-479B-A7D8-0615BB8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857FD-BDC4-4FCC-BBD9-0657D24D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0B084-B587-416E-976F-306BE9A2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837CC-5BEC-448D-9DF6-267E04E9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3E8F7-838F-4FD5-A8AF-EFB22070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合规对照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102F2-C4D6-474A-8FBE-46D61795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compliance twin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6A1EC-44BA-451A-8E3F-3815D20E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8851B-D694-4A1A-A14B-95A94E1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DB14B-9DEF-4E8C-B4F8-BCD049C7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F95DA-90BB-410C-81E3-FF35EEDB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EFBC5-CFCB-49A0-9BE5-E1A9CC26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单一违规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3426A-62AE-4406-8D51-BC3AB7BD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one mutation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0FBC3-57FF-4A47-A398-F41D4371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F6478-755F-43A6-BFA4-CE61CCE5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51E7C-5C94-40D6-AD1C-2AF85CD2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0642F-0ABF-47EB-8669-BA964E83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A0C4C-8028-4147-BD9C-31F1D5F6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默认 / 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C45FB-D7C7-47A4-B2BD-7339626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no-match · timeout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8742A-C75E-47EC-81CC-F1DBC79B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8EA44-E931-401A-BC78-47C4AB38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49209-6E8D-42B3-A990-4E067FA0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7DF68-9CF9-4EE7-B7D5-8D33AF6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5B653-9DD7-4A53-A1F1-59EE6AE1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授权变异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97E7F4-1254-49A8-AA8C-A7AEC192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args · replay · expiry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8A867-C656-4DF3-A381-09B73A24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259AC-40FE-4E7A-ACE8-190DB27A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B260D5-D460-4D2C-AC71-47997D6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28398-4A53-4AC1-925C-7451365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3D8FBE-5FDA-4466-AD80-823EEAF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旁路入口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B7808A-312F-4A2B-B1EE-CA2B019C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raw · provider · hook外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14CC66-2256-48CD-9543-201DED55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2906A0-315E-45DD-B3C4-E163DD52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B9E883-F19A-4182-BA0F-DE7BEF8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1600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F4133F-682C-49D9-B29B-C6266C0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1600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E768BF-2FD4-436B-8334-D6A1D6DC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后置与恢复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348FA6-174D-419C-A1AE-63392F55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re-gate · audit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9A0125-12C9-44BC-9E21-F22386E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3528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A83344-A230-468D-8B58-9328F810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71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12A227-407C-45B9-8638-13B95C90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观测对象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2630E1-4239-4A40-975D-A5CA7E1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verdict · state transition · tool args · action sink · environment diff · audit · exit status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DA3711-1A3B-4D98-B156-E0C95718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33528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73BA8E-EAF2-40F4-98F7-589764DA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571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67CB25-E6A3-44F1-9EA8-EFF2A4E6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结果标签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011B1A-43D9-43B8-9B1D-3E0710D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PASS · FAIL-OPEN · FAIL-CLOSED · SIGNAL-ONLY · POST-HOC · INCONCLUSIVE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6E4133-E482-4767-8327-B1809C7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95800"/>
            <a:ext cx="3581400" cy="14668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F6D85C-ED98-4BC3-8D35-3CE1B1E0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95800"/>
            <a:ext cx="571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9C617B-B728-40AB-9D29-C9709D06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组合与重复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70C616-2E50-4827-996E-10553D0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101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无控制 / 单层 / 正确顺序 / 错误顺序 / verdict被忽略；确定性用例至少重复 5 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9709C4-2C47-4210-9FB3-077B6FCD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05B0ED-56A4-4502-B2BF-EFCC130E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来源：报告12 §5–9；58个实验用例矩阵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DC2713-37E6-4C6C-8A41-8EDC9164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353259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5B73F-A762-48AC-8605-4A1D28E7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D565E-0252-4A96-BA16-D30216AA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·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096F0-DE4B-4241-856E-FBCA83B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B38A-5116-448A-AA19-0B59830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Demo 改进路线：从单步内存 gate 扩展到真实副作用闭环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00AC1-34A8-4196-B1D8-390C99E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优先补齐会改变授权语义与 action sink 可观察性的能力，再进入跨项目适配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57DA4-1C24-4875-9C7B-9F37479E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9620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0F24F-F9D2-4ECC-83D7-16B7B1B7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33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0F458-1E0C-487C-AA45-B38468F1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40F16-C180-404B-AE05-CD6B787D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5E847-8B32-46B1-AC95-78B607BA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2194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866C2-3410-4400-B499-B48C8A03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A78CE-242D-49B2-8837-4C413DA8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 A｜授权加固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5BA7D-5AFD-4195-BE97-EAE03570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8194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nonce 与消费状态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expiry / revocation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可信 principal 注入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canonical args + hash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审批存储故障夹具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DBFCF-0F02-4055-9100-7CB524C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32194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F6698-1837-4E83-9A1C-4348FE34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86460-53CE-4FD2-B304-7EE040AB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 B｜状态与真实 sink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CAD37-5774-4F81-AB26-DC0D45BA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28194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session / call limits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跨步 provenance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隔离 instrumented sink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symlink / junction / TOCTOU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partial success 与并发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03F86-EA71-4EAA-8D14-5103090C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37719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9E964-BB55-46C4-8B4C-7311A2C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5715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793A3-7E11-404B-99D9-8BA23479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 C｜后置与闭环恢复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33666-D88B-4BCF-9512-7766D541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3718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tool-result postcondition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有界 replan / resume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恢复动作重新授权与过 gate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持久、可关联、可验证 audit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redaction 与尾部完整性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91730-010D-4921-9536-97F32D7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4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2ECDD-F498-40AB-9748-4F8E4E44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必须保持的不变量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AEDBF-E95A-49C5-A20A-189DE614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020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gateway · 所有 verdict 可审计 · DENY 在 sink 前生效 · 恢复动作重新过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4F73B-89D6-4CCE-A1F8-34F6099F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DFEEB-18C6-4A2E-A4D3-F5996663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来源：报告13 §7–9；报告12 REC / MED / VERIFY / COMPOSE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5DC46-55EB-42BB-A95F-085FAB5E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20880374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049BB-9CFA-4E49-A64F-92DCBA8B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28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803EE-1140-4A0D-9D31-F97CD709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NEXT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2EACF-9245-4406-9AC1-4840AE24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FE8BD-E61D-4F19-83CD-495E668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下一步：从机制清单走向可验证的 Deployable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5DACA-AB55-4156-851A-B3C2E72A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工作安排围绕动态子集、故障与旁路、跨项目可比性和证据升级展开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A0010-F7EC-4915-8F37-881C316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C1F0D-9FBE-43AC-99D1-392E684B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C78E2-1808-409D-A119-2A273036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288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冻结动态子集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6EDE0-D46B-4E70-ABBA-619F9D62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commit · dependency · OS · model/API · 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669F4-D9F2-4F69-9BF7-ADA7907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F1851-E56B-45D8-923B-02938760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67B10-C264-40A1-B837-02C49CFB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建立统一适配器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BA280-4715-4576-A754-9D013C8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241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entrypoint · enforcement point · sink · state ·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ABCCC-60EC-4ECA-B166-4023B09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D7208-C988-4BC2-9635-07577B8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7CCA1-F814-4273-AEBB-9429F8F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81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故障与旁路实验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BB8DF-A534-4B06-A763-E0C34E62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004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no-match · parse · timeout · backend · partial · crash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24F50-4277-4A26-B8E8-E34EF77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74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2A663-B602-4137-9DF7-47000924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6448A-1261-4FED-B473-5735BB2B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分层比较与证据升级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659B4-4FC3-427A-A480-FC337FDA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767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同类 enforcement point 对比；寻找独立复现与生产证据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12A19-BCD7-4C03-8A5E-4D74719D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744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DF9B7-E55C-41DE-B554-17FF2143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8AF38-C7BD-4FC8-84B8-49F0FE0E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245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保证强度取决于 verdict 所有权、完整调解、默认/异常语义、恢复重入与审计闭合。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AF6A5-D2B9-4FDE-B1D8-641801D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D9801-49E4-4B64-9E56-5D9E30BE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来源：报告11 §10、§13–14；报告12 §7–11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E0E58-A66A-4DC1-917A-0FDBA664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2026.08 · RQ1</a:t>
            </a:r>
          </a:p>
        </p:txBody>
      </p:sp>
    </p:spTree>
    <p:extLst>
      <p:ext uri="{BB962C8B-B14F-4D97-AF65-F5344CB8AC3E}">
        <p14:creationId xmlns:p14="http://schemas.microsoft.com/office/powerpoint/2010/main" val="1242757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2026-08-26T09:36:00.5280000Z</dcterms:created>
  <dcterms:modified xsi:type="dcterms:W3CDTF">2026-08-26T09:36:00.5280000Z</dcterms:modified>
</coreProperties>
</file>